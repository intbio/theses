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312" r:id="rId2"/>
    <p:sldId id="294" r:id="rId3"/>
    <p:sldId id="295" r:id="rId4"/>
    <p:sldId id="296" r:id="rId5"/>
    <p:sldId id="302" r:id="rId6"/>
    <p:sldId id="298" r:id="rId7"/>
    <p:sldId id="299" r:id="rId8"/>
    <p:sldId id="300" r:id="rId9"/>
    <p:sldId id="311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23" autoAdjust="0"/>
    <p:restoredTop sz="73110" autoAdjust="0"/>
  </p:normalViewPr>
  <p:slideViewPr>
    <p:cSldViewPr snapToGrid="0" snapToObjects="1">
      <p:cViewPr varScale="1">
        <p:scale>
          <a:sx n="132" d="100"/>
          <a:sy n="132" d="100"/>
        </p:scale>
        <p:origin x="5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4983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dirty="0"/>
              <a:t>Здравствуйте уважаемые коллеги 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dirty="0"/>
              <a:t>Меня зовут Азамат Узденов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dirty="0"/>
              <a:t>Тема моего доклада «</a:t>
            </a:r>
            <a:r>
              <a:rPr lang="ru-RU" sz="1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БИОИНФОРМАТИЧЕСКИЙ ОТБОР МИШЕНЕЙ </a:t>
            </a:r>
            <a:r>
              <a:rPr lang="en-GB" sz="1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CAS-</a:t>
            </a:r>
            <a:r>
              <a:rPr lang="ru-RU" sz="1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БЕЛКОВ С УЧЁТОМ ЭПИГЕНЕТИЧЕСКОГО КОНТЕКСТА ДЛЯ НАПРАВЛЕННОЙ РЕГУЛЯЦИИ АКТИВНОСТИ ГЕНОВ</a:t>
            </a:r>
            <a:r>
              <a:rPr lang="ru-RU" dirty="0"/>
              <a:t>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Начнем с небольшого </a:t>
            </a:r>
            <a:r>
              <a:rPr lang="ru-RU" dirty="0" err="1"/>
              <a:t>ввдеения</a:t>
            </a:r>
            <a:r>
              <a:rPr lang="ru-RU" dirty="0"/>
              <a:t> и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ключевы</a:t>
            </a:r>
            <a:r>
              <a:rPr lang="ru-RU" dirty="0"/>
              <a:t>х </a:t>
            </a:r>
            <a:r>
              <a:rPr dirty="0" err="1"/>
              <a:t>поняти</a:t>
            </a:r>
            <a:r>
              <a:rPr lang="ru-RU" dirty="0"/>
              <a:t>й</a:t>
            </a:r>
            <a:r>
              <a:rPr dirty="0"/>
              <a:t>. Cas-</a:t>
            </a:r>
            <a:r>
              <a:rPr dirty="0" err="1"/>
              <a:t>белок</a:t>
            </a:r>
            <a:r>
              <a:rPr dirty="0"/>
              <a:t> </a:t>
            </a:r>
            <a:r>
              <a:rPr dirty="0" err="1"/>
              <a:t>связывается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целевым</a:t>
            </a:r>
            <a:r>
              <a:rPr dirty="0"/>
              <a:t> </a:t>
            </a:r>
            <a:r>
              <a:rPr dirty="0" err="1"/>
              <a:t>участком</a:t>
            </a:r>
            <a:r>
              <a:rPr dirty="0"/>
              <a:t> ДНК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помощью</a:t>
            </a:r>
            <a:r>
              <a:rPr dirty="0"/>
              <a:t> </a:t>
            </a:r>
            <a:r>
              <a:rPr dirty="0" err="1"/>
              <a:t>направляющей</a:t>
            </a:r>
            <a:r>
              <a:rPr dirty="0"/>
              <a:t> РНК;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схеме</a:t>
            </a:r>
            <a:r>
              <a:rPr dirty="0"/>
              <a:t> </a:t>
            </a:r>
            <a:r>
              <a:rPr dirty="0" err="1"/>
              <a:t>справа</a:t>
            </a:r>
            <a:r>
              <a:rPr dirty="0"/>
              <a:t> </a:t>
            </a:r>
            <a:r>
              <a:rPr dirty="0" err="1"/>
              <a:t>показано</a:t>
            </a:r>
            <a:r>
              <a:rPr dirty="0"/>
              <a:t> </a:t>
            </a:r>
            <a:r>
              <a:rPr dirty="0" err="1"/>
              <a:t>всё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будем</a:t>
            </a:r>
            <a:r>
              <a:rPr dirty="0"/>
              <a:t> </a:t>
            </a:r>
            <a:r>
              <a:rPr dirty="0" err="1"/>
              <a:t>оценивать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каждой</a:t>
            </a:r>
            <a:r>
              <a:rPr dirty="0"/>
              <a:t> </a:t>
            </a:r>
            <a:r>
              <a:rPr dirty="0" err="1"/>
              <a:t>потенциальной</a:t>
            </a:r>
            <a:r>
              <a:rPr dirty="0"/>
              <a:t> </a:t>
            </a:r>
            <a:r>
              <a:rPr dirty="0" err="1"/>
              <a:t>мишени</a:t>
            </a:r>
            <a:r>
              <a:rPr dirty="0"/>
              <a:t>.</a:t>
            </a:r>
            <a:endParaRPr lang="ru-RU" dirty="0"/>
          </a:p>
          <a:p>
            <a:r>
              <a:rPr lang="ru-RU" dirty="0"/>
              <a:t>Это…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Цель работы: разработать и применить подход для отбора и ранжирования мишеней CRISPR/Cas в геноме человека на основе интеграции мультиомиксных данных для задач направленной регуляции активности генов.</a:t>
            </a:r>
          </a:p>
          <a:p>
            <a:endParaRPr lang="ru-RU" dirty="0"/>
          </a:p>
          <a:p>
            <a:r>
              <a:rPr dirty="0" err="1"/>
              <a:t>Задачи</a:t>
            </a:r>
            <a:r>
              <a:rPr dirty="0"/>
              <a:t> </a:t>
            </a:r>
            <a:r>
              <a:rPr dirty="0" err="1"/>
              <a:t>логически</a:t>
            </a:r>
            <a:r>
              <a:rPr dirty="0"/>
              <a:t> </a:t>
            </a:r>
            <a:r>
              <a:rPr dirty="0" err="1"/>
              <a:t>разделены</a:t>
            </a:r>
            <a:r>
              <a:rPr dirty="0"/>
              <a:t>: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разработать</a:t>
            </a:r>
            <a:r>
              <a:rPr dirty="0"/>
              <a:t> </a:t>
            </a:r>
            <a:r>
              <a:rPr dirty="0" err="1"/>
              <a:t>алгоритм</a:t>
            </a:r>
            <a:r>
              <a:rPr dirty="0"/>
              <a:t> </a:t>
            </a:r>
            <a:r>
              <a:rPr dirty="0" err="1"/>
              <a:t>отбора</a:t>
            </a:r>
            <a:r>
              <a:rPr dirty="0"/>
              <a:t> </a:t>
            </a:r>
            <a:r>
              <a:rPr dirty="0" err="1"/>
              <a:t>целевых</a:t>
            </a:r>
            <a:r>
              <a:rPr dirty="0"/>
              <a:t> </a:t>
            </a:r>
            <a:r>
              <a:rPr dirty="0" err="1"/>
              <a:t>последовательностей</a:t>
            </a:r>
            <a:r>
              <a:rPr dirty="0"/>
              <a:t>;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выделить</a:t>
            </a:r>
            <a:r>
              <a:rPr dirty="0"/>
              <a:t> </a:t>
            </a:r>
            <a:r>
              <a:rPr dirty="0" err="1"/>
              <a:t>наборы</a:t>
            </a:r>
            <a:r>
              <a:rPr dirty="0"/>
              <a:t> </a:t>
            </a:r>
            <a:r>
              <a:rPr dirty="0" err="1"/>
              <a:t>генов-мишеней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биологическому</a:t>
            </a:r>
            <a:r>
              <a:rPr dirty="0"/>
              <a:t> </a:t>
            </a:r>
            <a:r>
              <a:rPr dirty="0" err="1"/>
              <a:t>контексту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клеточных</a:t>
            </a:r>
            <a:r>
              <a:rPr dirty="0"/>
              <a:t> </a:t>
            </a:r>
            <a:r>
              <a:rPr dirty="0" err="1"/>
              <a:t>линиях</a:t>
            </a:r>
            <a:r>
              <a:rPr dirty="0"/>
              <a:t> K562 </a:t>
            </a:r>
            <a:r>
              <a:rPr dirty="0" err="1"/>
              <a:t>и</a:t>
            </a:r>
            <a:r>
              <a:rPr dirty="0"/>
              <a:t> NHEK;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наконец</a:t>
            </a:r>
            <a:r>
              <a:rPr dirty="0"/>
              <a:t> </a:t>
            </a:r>
            <a:r>
              <a:rPr dirty="0" err="1"/>
              <a:t>применить</a:t>
            </a:r>
            <a:r>
              <a:rPr dirty="0"/>
              <a:t> </a:t>
            </a:r>
            <a:r>
              <a:rPr dirty="0" err="1"/>
              <a:t>алгоритм</a:t>
            </a:r>
            <a:r>
              <a:rPr dirty="0"/>
              <a:t> </a:t>
            </a:r>
            <a:r>
              <a:rPr dirty="0" err="1"/>
              <a:t>к</a:t>
            </a:r>
            <a:r>
              <a:rPr dirty="0"/>
              <a:t> </a:t>
            </a:r>
            <a:r>
              <a:rPr dirty="0" err="1"/>
              <a:t>плазмидной</a:t>
            </a:r>
            <a:r>
              <a:rPr dirty="0"/>
              <a:t> </a:t>
            </a:r>
            <a:r>
              <a:rPr dirty="0" err="1"/>
              <a:t>конструкции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к</a:t>
            </a:r>
            <a:r>
              <a:rPr dirty="0"/>
              <a:t> </a:t>
            </a:r>
            <a:r>
              <a:rPr dirty="0" err="1"/>
              <a:t>геномам</a:t>
            </a:r>
            <a:r>
              <a:rPr dirty="0"/>
              <a:t> </a:t>
            </a:r>
            <a:r>
              <a:rPr dirty="0" err="1"/>
              <a:t>этих</a:t>
            </a:r>
            <a:r>
              <a:rPr dirty="0"/>
              <a:t> </a:t>
            </a:r>
            <a:r>
              <a:rPr dirty="0" err="1"/>
              <a:t>линий</a:t>
            </a:r>
            <a:r>
              <a:rPr dirty="0"/>
              <a:t>.</a:t>
            </a:r>
            <a:endParaRPr lang="ru-RU" dirty="0"/>
          </a:p>
          <a:p>
            <a:endParaRPr lang="ru-RU" dirty="0"/>
          </a:p>
          <a:p>
            <a:r>
              <a:rPr lang="ru-RU" dirty="0"/>
              <a:t>Работа сводится к трём задачам.</a:t>
            </a:r>
          </a:p>
          <a:p>
            <a:r>
              <a:rPr lang="ru-RU" dirty="0"/>
              <a:t>Первая задача - разработать оценку мишени на основе её последовательности: целевую активность, специфичность и триплексный потенциал. Это даёт первичный балл по самой </a:t>
            </a:r>
            <a:r>
              <a:rPr lang="en-GB" dirty="0"/>
              <a:t>gRNA.</a:t>
            </a:r>
          </a:p>
          <a:p>
            <a:r>
              <a:rPr lang="ru-RU" dirty="0"/>
              <a:t>Вторая задача - добавить к этой оценке дополнительную информацию о мишени, то есть её эпигенетический контекст: состояние хроматина по </a:t>
            </a:r>
            <a:r>
              <a:rPr lang="en-GB" dirty="0" err="1"/>
              <a:t>ChromHMM</a:t>
            </a:r>
            <a:r>
              <a:rPr lang="en-GB" dirty="0"/>
              <a:t>, </a:t>
            </a:r>
            <a:r>
              <a:rPr lang="ru-RU" dirty="0"/>
              <a:t>уровень экспрессии по </a:t>
            </a:r>
            <a:r>
              <a:rPr lang="en-GB" dirty="0"/>
              <a:t>RNA-</a:t>
            </a:r>
            <a:r>
              <a:rPr lang="en-GB" dirty="0" err="1"/>
              <a:t>seq</a:t>
            </a:r>
            <a:r>
              <a:rPr lang="en-GB" dirty="0"/>
              <a:t> </a:t>
            </a:r>
            <a:r>
              <a:rPr lang="ru-RU" dirty="0"/>
              <a:t>и метилирование промотора. Этот блок позволяет отобрать гены, имеющие смысл как мишени.</a:t>
            </a:r>
          </a:p>
          <a:p>
            <a:r>
              <a:rPr lang="ru-RU" dirty="0"/>
              <a:t>Третья задача - применить алгоритм к конкретным объектам (плазмида </a:t>
            </a:r>
            <a:r>
              <a:rPr lang="en-GB" dirty="0"/>
              <a:t>HEK293, </a:t>
            </a:r>
            <a:r>
              <a:rPr lang="ru-RU" dirty="0"/>
              <a:t>геномы </a:t>
            </a:r>
            <a:r>
              <a:rPr lang="en-GB" dirty="0"/>
              <a:t>K562 </a:t>
            </a:r>
            <a:r>
              <a:rPr lang="ru-RU" dirty="0"/>
              <a:t>и </a:t>
            </a:r>
            <a:r>
              <a:rPr lang="en-GB" dirty="0"/>
              <a:t>NHEK) </a:t>
            </a:r>
            <a:r>
              <a:rPr lang="ru-RU" dirty="0"/>
              <a:t>и получить итоговый ранжированный список мишеней для последующей экспериментальной проверки. На примере показываем, что </a:t>
            </a:r>
            <a:r>
              <a:rPr lang="en-GB" dirty="0"/>
              <a:t>Cas-</a:t>
            </a:r>
            <a:r>
              <a:rPr lang="ru-RU" dirty="0"/>
              <a:t>белок может быть в виде инженерной конструкции, например </a:t>
            </a:r>
            <a:r>
              <a:rPr lang="en-GB" dirty="0"/>
              <a:t>dCas9-KRAB, </a:t>
            </a:r>
            <a:r>
              <a:rPr lang="ru-RU" dirty="0"/>
              <a:t>для направленной регуляции активности генов без внесения двуцепочечного разрыва.</a:t>
            </a:r>
          </a:p>
          <a:p>
            <a:endParaRPr dirty="0" err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Методология строится из трёх крупных этапов: оценка мишеней по последовательностям, оценка по омиксным данным и получение итогового списка кандидатов.</a:t>
            </a:r>
          </a:p>
          <a:p>
            <a:r>
              <a:rPr dirty="0" err="1"/>
              <a:t>Источники данных: NCBI Gene дают координаты генов и промоторов; ChIP-Atlas с ChromHMM содержат состояния хроматина; ENCODE RNA-seq даёт экспрессию генов; данные о метилировании ДНК служат дополнительным эпигенетическим фильтром; HPA используется как список housekeeping-генов для исключения базового фона.</a:t>
            </a:r>
          </a:p>
          <a:p>
            <a:r>
              <a:rPr dirty="0" err="1"/>
              <a:t>Активность гена определяли двумя независимыми критериями: состояние Active Promoter по ChromHMM и уровень экспрессии TPM больше 1 по RNA-seq.</a:t>
            </a:r>
          </a:p>
          <a:p>
            <a:r>
              <a:rPr dirty="0" err="1"/>
              <a:t>Инструменты: Python отвечает за автоматизацию и таблицы; bedtools - за пересечение геномных интервалов; Azimuth 2.0 - за оценку целевой активности gRNA; MIT Off-Target - за оценку специфичности gRNA.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Перейдём к разработанному алгоритму. Он работает в три этапа. На первом этапе делается оценка мишеней по последовательностям: поиск PAM-мотивов NGG, извлечение 20-нуклеотидных кандидатных gRNA, расчёт целевой активности по Rule Set 2, специфичности по MIT Off-Target и анализ триплекс-образующего потенциала.</a:t>
            </a:r>
          </a:p>
          <a:p>
            <a:r>
              <a:t>На втором этапе - оценка по омиксным данным: интегрируются координаты генов, состояния хроматина по ChromHMM, экспрессия по RNA-seq и метилирование, с контролем по housekeeping-генам.</a:t>
            </a:r>
          </a:p>
          <a:p>
            <a:r>
              <a:t>На третьем этапе формируется итоговый ранжированный список кандидатов, который применяется к плазмидной конструкции HEK293 и геномам линий K562 и NHEK для последующей экспериментальной валидации.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использованием</a:t>
            </a:r>
            <a:r>
              <a:rPr lang="ru-RU" dirty="0"/>
              <a:t> в нашем алгоритме</a:t>
            </a:r>
            <a:r>
              <a:rPr dirty="0"/>
              <a:t> </a:t>
            </a:r>
            <a:r>
              <a:rPr dirty="0" err="1"/>
              <a:t>ChromHMM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источника</a:t>
            </a:r>
            <a:r>
              <a:rPr dirty="0"/>
              <a:t> </a:t>
            </a:r>
            <a:r>
              <a:rPr dirty="0" err="1"/>
              <a:t>эпигенетических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была</a:t>
            </a:r>
            <a:r>
              <a:rPr dirty="0"/>
              <a:t> </a:t>
            </a:r>
            <a:r>
              <a:rPr dirty="0" err="1"/>
              <a:t>проведена</a:t>
            </a:r>
            <a:r>
              <a:rPr dirty="0"/>
              <a:t> </a:t>
            </a:r>
            <a:r>
              <a:rPr dirty="0" err="1"/>
              <a:t>оценка</a:t>
            </a:r>
            <a:r>
              <a:rPr dirty="0"/>
              <a:t> </a:t>
            </a:r>
            <a:r>
              <a:rPr dirty="0" err="1"/>
              <a:t>корректности</a:t>
            </a:r>
            <a:r>
              <a:rPr dirty="0"/>
              <a:t> </a:t>
            </a:r>
            <a:r>
              <a:rPr dirty="0" err="1"/>
              <a:t>метода</a:t>
            </a:r>
            <a:r>
              <a:rPr dirty="0"/>
              <a:t>. </a:t>
            </a:r>
            <a:r>
              <a:rPr dirty="0" err="1"/>
              <a:t>ChromHMM - инструмент, который по комбинациям эпигенетических меток делит геном на состояния хроматина: активные промоторы, энхансеры, транскрибируемые и репрессированные области.</a:t>
            </a:r>
          </a:p>
          <a:p>
            <a:r>
              <a:rPr dirty="0" err="1"/>
              <a:t>Для линии K562 рассчитаны доли состояний по геному и по промоторам. Полученные пропорции согласуются с литературными данными и биологическими ожиданиями: большая часть генома относится к гетерохроматину и областям со слабым сигналом, активные промоторы и энхансеры составляют сравнительно небольшую долю. Это подтверждает, что аннотации ChromHMM можно интерпретировать биологически корректно.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Следующий шаг - определить, как именно использовать ChromHMM для оценки активности гена. Сравнили два варианта: по состоянию промотора и по состоянию тела гена.</a:t>
            </a:r>
          </a:p>
          <a:p>
            <a:r>
              <a:t>По результатам диаграмм Венна видно, что оценка по промотору даёт более логичное разделение генов на активные и в репрессированном состоянии. Оценка по телу гена менее устойчива: вдоль длинного локуса состояния хроматина чередуются, что создаёт мозаичные сигналы и ложные выводы. Поэтому в дальнейшем активность гена определяли именно по состоянию промотора.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Также была </a:t>
            </a:r>
            <a:r>
              <a:rPr lang="ru-RU" dirty="0" err="1"/>
              <a:t>проверенна</a:t>
            </a:r>
            <a:r>
              <a:rPr lang="ru-RU" dirty="0"/>
              <a:t> </a:t>
            </a:r>
            <a:r>
              <a:rPr lang="ru-RU" sz="1200" b="1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Согласованность эпигенетики и экспрессии</a:t>
            </a:r>
            <a:endParaRPr lang="ru-RU" dirty="0"/>
          </a:p>
          <a:p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количественно</a:t>
            </a:r>
            <a:r>
              <a:rPr dirty="0"/>
              <a:t> </a:t>
            </a:r>
            <a:r>
              <a:rPr dirty="0" err="1"/>
              <a:t>сопоставить</a:t>
            </a:r>
            <a:r>
              <a:rPr dirty="0"/>
              <a:t> </a:t>
            </a:r>
            <a:r>
              <a:rPr dirty="0" err="1"/>
              <a:t>ChromHMM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независимыми</a:t>
            </a:r>
            <a:r>
              <a:rPr dirty="0"/>
              <a:t> </a:t>
            </a:r>
            <a:r>
              <a:rPr dirty="0" err="1"/>
              <a:t>транскриптомными</a:t>
            </a:r>
            <a:r>
              <a:rPr dirty="0"/>
              <a:t> </a:t>
            </a:r>
            <a:r>
              <a:rPr dirty="0" err="1"/>
              <a:t>данными</a:t>
            </a:r>
            <a:r>
              <a:rPr dirty="0"/>
              <a:t>,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каждой</a:t>
            </a:r>
            <a:r>
              <a:rPr dirty="0"/>
              <a:t> </a:t>
            </a:r>
            <a:r>
              <a:rPr dirty="0" err="1"/>
              <a:t>клеточной</a:t>
            </a:r>
            <a:r>
              <a:rPr dirty="0"/>
              <a:t> </a:t>
            </a:r>
            <a:r>
              <a:rPr dirty="0" err="1"/>
              <a:t>линии</a:t>
            </a:r>
            <a:r>
              <a:rPr dirty="0"/>
              <a:t> </a:t>
            </a:r>
            <a:r>
              <a:rPr dirty="0" err="1"/>
              <a:t>сформировали</a:t>
            </a:r>
            <a:r>
              <a:rPr dirty="0"/>
              <a:t>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множества</a:t>
            </a:r>
            <a:r>
              <a:rPr dirty="0"/>
              <a:t>: </a:t>
            </a:r>
            <a:r>
              <a:rPr dirty="0" err="1"/>
              <a:t>активные</a:t>
            </a:r>
            <a:r>
              <a:rPr dirty="0"/>
              <a:t> </a:t>
            </a:r>
            <a:r>
              <a:rPr dirty="0" err="1"/>
              <a:t>гены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ChromHMM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критерию</a:t>
            </a:r>
            <a:r>
              <a:rPr dirty="0"/>
              <a:t> Active Promoter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активные</a:t>
            </a:r>
            <a:r>
              <a:rPr dirty="0"/>
              <a:t> </a:t>
            </a:r>
            <a:r>
              <a:rPr dirty="0" err="1"/>
              <a:t>гены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RNA-seq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критерию</a:t>
            </a:r>
            <a:r>
              <a:rPr dirty="0"/>
              <a:t> TPM </a:t>
            </a:r>
            <a:r>
              <a:rPr dirty="0" err="1"/>
              <a:t>больше</a:t>
            </a:r>
            <a:r>
              <a:rPr dirty="0"/>
              <a:t> 1. </a:t>
            </a:r>
            <a:r>
              <a:rPr dirty="0" err="1"/>
              <a:t>Корреляция</a:t>
            </a:r>
            <a:r>
              <a:rPr dirty="0"/>
              <a:t> </a:t>
            </a:r>
            <a:r>
              <a:rPr dirty="0" err="1"/>
              <a:t>оценивается</a:t>
            </a:r>
            <a:r>
              <a:rPr dirty="0"/>
              <a:t> </a:t>
            </a:r>
            <a:r>
              <a:rPr dirty="0" err="1"/>
              <a:t>именно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этими</a:t>
            </a:r>
            <a:r>
              <a:rPr dirty="0"/>
              <a:t> </a:t>
            </a:r>
            <a:r>
              <a:rPr dirty="0" err="1"/>
              <a:t>двумя</a:t>
            </a:r>
            <a:r>
              <a:rPr dirty="0"/>
              <a:t> </a:t>
            </a:r>
            <a:r>
              <a:rPr dirty="0" err="1"/>
              <a:t>множествами</a:t>
            </a:r>
            <a:r>
              <a:rPr dirty="0"/>
              <a:t>.</a:t>
            </a:r>
          </a:p>
          <a:p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бинарных</a:t>
            </a:r>
            <a:r>
              <a:rPr dirty="0"/>
              <a:t> </a:t>
            </a:r>
            <a:r>
              <a:rPr dirty="0" err="1"/>
              <a:t>признаков</a:t>
            </a:r>
            <a:r>
              <a:rPr dirty="0"/>
              <a:t> </a:t>
            </a:r>
            <a:r>
              <a:rPr dirty="0" err="1"/>
              <a:t>использовался</a:t>
            </a:r>
            <a:r>
              <a:rPr dirty="0"/>
              <a:t> </a:t>
            </a:r>
            <a:r>
              <a:rPr dirty="0" err="1"/>
              <a:t>коэффициент</a:t>
            </a:r>
            <a:r>
              <a:rPr dirty="0"/>
              <a:t> </a:t>
            </a:r>
            <a:r>
              <a:rPr dirty="0" err="1"/>
              <a:t>фи</a:t>
            </a:r>
            <a:r>
              <a:rPr dirty="0"/>
              <a:t>. </a:t>
            </a:r>
            <a:r>
              <a:rPr dirty="0" err="1"/>
              <a:t>В</a:t>
            </a:r>
            <a:r>
              <a:rPr dirty="0"/>
              <a:t> K562 </a:t>
            </a:r>
            <a:r>
              <a:rPr dirty="0" err="1"/>
              <a:t>фи</a:t>
            </a:r>
            <a:r>
              <a:rPr dirty="0"/>
              <a:t> </a:t>
            </a:r>
            <a:r>
              <a:rPr dirty="0" err="1"/>
              <a:t>равно</a:t>
            </a:r>
            <a:r>
              <a:rPr dirty="0"/>
              <a:t> 0,72, </a:t>
            </a:r>
            <a:r>
              <a:rPr dirty="0" err="1"/>
              <a:t>в</a:t>
            </a:r>
            <a:r>
              <a:rPr dirty="0"/>
              <a:t> NHEK - 0,73.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положительная</a:t>
            </a:r>
            <a:r>
              <a:rPr dirty="0"/>
              <a:t> </a:t>
            </a:r>
            <a:r>
              <a:rPr dirty="0" err="1"/>
              <a:t>связь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множествами</a:t>
            </a:r>
            <a:r>
              <a:rPr dirty="0"/>
              <a:t> </a:t>
            </a:r>
            <a:r>
              <a:rPr dirty="0" err="1"/>
              <a:t>активных</a:t>
            </a:r>
            <a:r>
              <a:rPr dirty="0"/>
              <a:t> </a:t>
            </a:r>
            <a:r>
              <a:rPr dirty="0" err="1"/>
              <a:t>генов</a:t>
            </a:r>
            <a:r>
              <a:rPr dirty="0"/>
              <a:t>,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двойной</a:t>
            </a:r>
            <a:r>
              <a:rPr dirty="0"/>
              <a:t> </a:t>
            </a:r>
            <a:r>
              <a:rPr dirty="0" err="1"/>
              <a:t>критерий</a:t>
            </a:r>
            <a:r>
              <a:rPr dirty="0"/>
              <a:t> «</a:t>
            </a:r>
            <a:r>
              <a:rPr dirty="0" err="1"/>
              <a:t>активный</a:t>
            </a:r>
            <a:r>
              <a:rPr dirty="0"/>
              <a:t> </a:t>
            </a:r>
            <a:r>
              <a:rPr dirty="0" err="1"/>
              <a:t>промотор</a:t>
            </a:r>
            <a:r>
              <a:rPr dirty="0"/>
              <a:t>» </a:t>
            </a:r>
            <a:r>
              <a:rPr dirty="0" err="1"/>
              <a:t>и</a:t>
            </a:r>
            <a:r>
              <a:rPr dirty="0"/>
              <a:t> «TPM </a:t>
            </a:r>
            <a:r>
              <a:rPr dirty="0" err="1"/>
              <a:t>больше</a:t>
            </a:r>
            <a:r>
              <a:rPr dirty="0"/>
              <a:t> 1» </a:t>
            </a:r>
            <a:r>
              <a:rPr dirty="0" err="1"/>
              <a:t>делает</a:t>
            </a:r>
            <a:r>
              <a:rPr dirty="0"/>
              <a:t> </a:t>
            </a:r>
            <a:r>
              <a:rPr dirty="0" err="1"/>
              <a:t>отбор</a:t>
            </a:r>
            <a:r>
              <a:rPr dirty="0"/>
              <a:t> </a:t>
            </a:r>
            <a:r>
              <a:rPr dirty="0" err="1"/>
              <a:t>генов-мишеней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надёжным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ChromHMM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RNA-seq </a:t>
            </a:r>
            <a:r>
              <a:rPr dirty="0" err="1"/>
              <a:t>был</a:t>
            </a:r>
            <a:r>
              <a:rPr dirty="0"/>
              <a:t> </a:t>
            </a:r>
            <a:r>
              <a:rPr dirty="0" err="1"/>
              <a:t>добавлен</a:t>
            </a:r>
            <a:r>
              <a:rPr dirty="0"/>
              <a:t> </a:t>
            </a:r>
            <a:r>
              <a:rPr dirty="0" err="1"/>
              <a:t>третий</a:t>
            </a:r>
            <a:r>
              <a:rPr dirty="0"/>
              <a:t> </a:t>
            </a:r>
            <a:r>
              <a:rPr dirty="0" err="1"/>
              <a:t>слой</a:t>
            </a:r>
            <a:r>
              <a:rPr dirty="0"/>
              <a:t> </a:t>
            </a:r>
            <a:r>
              <a:rPr dirty="0" err="1"/>
              <a:t>эпигенетических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- </a:t>
            </a:r>
            <a:r>
              <a:rPr dirty="0" err="1"/>
              <a:t>метилирование</a:t>
            </a:r>
            <a:r>
              <a:rPr dirty="0"/>
              <a:t> ДНК.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химическая</a:t>
            </a:r>
            <a:r>
              <a:rPr dirty="0"/>
              <a:t> </a:t>
            </a:r>
            <a:r>
              <a:rPr dirty="0" err="1"/>
              <a:t>модификация</a:t>
            </a:r>
            <a:r>
              <a:rPr dirty="0"/>
              <a:t> </a:t>
            </a:r>
            <a:r>
              <a:rPr dirty="0" err="1"/>
              <a:t>цитозиновых</a:t>
            </a:r>
            <a:r>
              <a:rPr dirty="0"/>
              <a:t> </a:t>
            </a:r>
            <a:r>
              <a:rPr dirty="0" err="1"/>
              <a:t>оснований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составе</a:t>
            </a:r>
            <a:r>
              <a:rPr dirty="0"/>
              <a:t> CpG-</a:t>
            </a:r>
            <a:r>
              <a:rPr dirty="0" err="1"/>
              <a:t>динуклеотидов</a:t>
            </a:r>
            <a:r>
              <a:rPr dirty="0"/>
              <a:t>.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промоторных</a:t>
            </a:r>
            <a:r>
              <a:rPr dirty="0"/>
              <a:t> </a:t>
            </a:r>
            <a:r>
              <a:rPr dirty="0" err="1"/>
              <a:t>областях</a:t>
            </a:r>
            <a:r>
              <a:rPr dirty="0"/>
              <a:t> </a:t>
            </a:r>
            <a:r>
              <a:rPr dirty="0" err="1"/>
              <a:t>метилирование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связано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подавлением</a:t>
            </a:r>
            <a:r>
              <a:rPr dirty="0"/>
              <a:t> </a:t>
            </a:r>
            <a:r>
              <a:rPr dirty="0" err="1"/>
              <a:t>активности</a:t>
            </a:r>
            <a:r>
              <a:rPr dirty="0"/>
              <a:t> </a:t>
            </a:r>
            <a:r>
              <a:rPr dirty="0" err="1"/>
              <a:t>гена</a:t>
            </a:r>
            <a:r>
              <a:rPr dirty="0"/>
              <a:t>,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теле</a:t>
            </a:r>
            <a:r>
              <a:rPr dirty="0"/>
              <a:t> </a:t>
            </a:r>
            <a:r>
              <a:rPr dirty="0" err="1"/>
              <a:t>гена</a:t>
            </a:r>
            <a:r>
              <a:rPr dirty="0"/>
              <a:t> </a:t>
            </a:r>
            <a:r>
              <a:rPr dirty="0" err="1"/>
              <a:t>картина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вариабельная</a:t>
            </a:r>
            <a:r>
              <a:rPr dirty="0"/>
              <a:t>.</a:t>
            </a:r>
          </a:p>
          <a:p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работе</a:t>
            </a:r>
            <a:r>
              <a:rPr dirty="0"/>
              <a:t> </a:t>
            </a:r>
            <a:r>
              <a:rPr dirty="0" err="1"/>
              <a:t>метилирование</a:t>
            </a:r>
            <a:r>
              <a:rPr dirty="0"/>
              <a:t> </a:t>
            </a:r>
            <a:r>
              <a:rPr dirty="0" err="1"/>
              <a:t>служит</a:t>
            </a:r>
            <a:r>
              <a:rPr dirty="0"/>
              <a:t> </a:t>
            </a:r>
            <a:r>
              <a:rPr dirty="0" err="1"/>
              <a:t>дополнительным</a:t>
            </a:r>
            <a:r>
              <a:rPr dirty="0"/>
              <a:t> </a:t>
            </a:r>
            <a:r>
              <a:rPr dirty="0" err="1"/>
              <a:t>независимым</a:t>
            </a:r>
            <a:r>
              <a:rPr dirty="0"/>
              <a:t> </a:t>
            </a:r>
            <a:r>
              <a:rPr dirty="0" err="1"/>
              <a:t>источником</a:t>
            </a:r>
            <a:r>
              <a:rPr dirty="0"/>
              <a:t> </a:t>
            </a:r>
            <a:r>
              <a:rPr dirty="0" err="1"/>
              <a:t>информации</a:t>
            </a:r>
            <a:r>
              <a:rPr dirty="0"/>
              <a:t>. </a:t>
            </a:r>
            <a:r>
              <a:rPr dirty="0" err="1"/>
              <a:t>Сигнал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вариабельный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ChromHMM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RNA-seq,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критерий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уточняющий</a:t>
            </a:r>
            <a:r>
              <a:rPr dirty="0"/>
              <a:t>.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дополняет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о</a:t>
            </a:r>
            <a:r>
              <a:rPr dirty="0"/>
              <a:t> </a:t>
            </a:r>
            <a:r>
              <a:rPr dirty="0" err="1"/>
              <a:t>состоянии</a:t>
            </a:r>
            <a:r>
              <a:rPr dirty="0"/>
              <a:t> </a:t>
            </a:r>
            <a:r>
              <a:rPr dirty="0" err="1"/>
              <a:t>хроматина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об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 </a:t>
            </a:r>
            <a:r>
              <a:rPr dirty="0" err="1"/>
              <a:t>экспрессии</a:t>
            </a:r>
            <a:r>
              <a:rPr dirty="0"/>
              <a:t>, </a:t>
            </a:r>
            <a:r>
              <a:rPr dirty="0" err="1"/>
              <a:t>повышая</a:t>
            </a:r>
            <a:r>
              <a:rPr dirty="0"/>
              <a:t> </a:t>
            </a:r>
            <a:r>
              <a:rPr dirty="0" err="1"/>
              <a:t>обоснованность</a:t>
            </a:r>
            <a:r>
              <a:rPr dirty="0"/>
              <a:t> </a:t>
            </a:r>
            <a:r>
              <a:rPr dirty="0" err="1"/>
              <a:t>отбора</a:t>
            </a:r>
            <a:r>
              <a:rPr dirty="0"/>
              <a:t> </a:t>
            </a:r>
            <a:r>
              <a:rPr dirty="0" err="1"/>
              <a:t>генов-мишеней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Разработанный алгоритм был применён к трём объектам: плазмидной конструкции для системы HEK293 с dCas9-KRAB как первичной апробации; геному клеточной линии K562 как опухолевой модели; и геному NHEK как нормальной клеточной линии с другим эпигенетическим контекстом.</a:t>
            </a:r>
          </a:p>
          <a:p>
            <a:r>
              <a:t>Для каждой мишени рассчитываются все обсуждавшиеся ранее показатели: целевая активность (on target), специфичность (off target), уровень экспрессии целевого гена, метилирование и триплексный потенциал. На схеме показан пример такой оценки для одной мишени. В итоге получаем ранжированный список мишеней для последующей экспериментальной валидации.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результатам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сформулировать</a:t>
            </a:r>
            <a:r>
              <a:rPr dirty="0"/>
              <a:t> </a:t>
            </a:r>
            <a:r>
              <a:rPr dirty="0" err="1"/>
              <a:t>три</a:t>
            </a:r>
            <a:r>
              <a:rPr dirty="0"/>
              <a:t> </a:t>
            </a:r>
            <a:r>
              <a:rPr dirty="0" err="1"/>
              <a:t>вывода</a:t>
            </a:r>
            <a:r>
              <a:rPr dirty="0"/>
              <a:t>, </a:t>
            </a:r>
            <a:r>
              <a:rPr dirty="0" err="1"/>
              <a:t>отражающих</a:t>
            </a:r>
            <a:r>
              <a:rPr dirty="0"/>
              <a:t> </a:t>
            </a:r>
            <a:r>
              <a:rPr dirty="0" err="1"/>
              <a:t>три</a:t>
            </a:r>
            <a:r>
              <a:rPr dirty="0"/>
              <a:t> </a:t>
            </a:r>
            <a:r>
              <a:rPr dirty="0" err="1"/>
              <a:t>этапа</a:t>
            </a:r>
            <a:r>
              <a:rPr dirty="0"/>
              <a:t> </a:t>
            </a:r>
            <a:r>
              <a:rPr dirty="0" err="1"/>
              <a:t>подхода</a:t>
            </a:r>
            <a:r>
              <a:rPr dirty="0"/>
              <a:t>.</a:t>
            </a:r>
            <a:endParaRPr lang="ru-RU" dirty="0"/>
          </a:p>
          <a:p>
            <a:endParaRPr dirty="0"/>
          </a:p>
          <a:p>
            <a:r>
              <a:rPr dirty="0" err="1"/>
              <a:t>Сочетание</a:t>
            </a:r>
            <a:r>
              <a:rPr dirty="0"/>
              <a:t> </a:t>
            </a:r>
            <a:r>
              <a:rPr dirty="0" err="1"/>
              <a:t>целевой</a:t>
            </a:r>
            <a:r>
              <a:rPr dirty="0"/>
              <a:t> </a:t>
            </a:r>
            <a:r>
              <a:rPr dirty="0" err="1"/>
              <a:t>активности</a:t>
            </a:r>
            <a:r>
              <a:rPr dirty="0"/>
              <a:t>, </a:t>
            </a:r>
            <a:r>
              <a:rPr dirty="0" err="1"/>
              <a:t>специфичности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триплексного</a:t>
            </a:r>
            <a:r>
              <a:rPr dirty="0"/>
              <a:t> </a:t>
            </a:r>
            <a:r>
              <a:rPr dirty="0" err="1"/>
              <a:t>потенциала</a:t>
            </a:r>
            <a:r>
              <a:rPr dirty="0"/>
              <a:t> </a:t>
            </a:r>
            <a:r>
              <a:rPr dirty="0" err="1"/>
              <a:t>действительно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ранжирующий</a:t>
            </a:r>
            <a:r>
              <a:rPr dirty="0"/>
              <a:t> </a:t>
            </a:r>
            <a:r>
              <a:rPr dirty="0" err="1"/>
              <a:t>критерий</a:t>
            </a:r>
            <a:r>
              <a:rPr dirty="0"/>
              <a:t>: </a:t>
            </a:r>
            <a:r>
              <a:rPr dirty="0" err="1"/>
              <a:t>разработанный</a:t>
            </a:r>
            <a:r>
              <a:rPr dirty="0"/>
              <a:t> </a:t>
            </a:r>
            <a:r>
              <a:rPr dirty="0" err="1"/>
              <a:t>модуль</a:t>
            </a:r>
            <a:r>
              <a:rPr dirty="0"/>
              <a:t> </a:t>
            </a:r>
            <a:r>
              <a:rPr dirty="0" err="1"/>
              <a:t>оценки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отбирать</a:t>
            </a:r>
            <a:r>
              <a:rPr dirty="0"/>
              <a:t> </a:t>
            </a:r>
            <a:r>
              <a:rPr dirty="0" err="1"/>
              <a:t>высокоспецифичные</a:t>
            </a:r>
            <a:r>
              <a:rPr dirty="0"/>
              <a:t> </a:t>
            </a:r>
            <a:r>
              <a:rPr dirty="0" err="1"/>
              <a:t>мишени</a:t>
            </a:r>
            <a:r>
              <a:rPr dirty="0"/>
              <a:t> CRISPR/Cas, </a:t>
            </a:r>
            <a:r>
              <a:rPr dirty="0" err="1"/>
              <a:t>пригодные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направленной</a:t>
            </a:r>
            <a:r>
              <a:rPr dirty="0"/>
              <a:t> </a:t>
            </a:r>
            <a:r>
              <a:rPr dirty="0" err="1"/>
              <a:t>регуляции</a:t>
            </a:r>
            <a:r>
              <a:rPr dirty="0"/>
              <a:t> </a:t>
            </a:r>
            <a:r>
              <a:rPr dirty="0" err="1"/>
              <a:t>активности</a:t>
            </a:r>
            <a:r>
              <a:rPr dirty="0"/>
              <a:t> </a:t>
            </a:r>
            <a:r>
              <a:rPr dirty="0" err="1"/>
              <a:t>генов</a:t>
            </a:r>
            <a:r>
              <a:rPr dirty="0"/>
              <a:t>.</a:t>
            </a:r>
            <a:endParaRPr lang="ru-RU" dirty="0"/>
          </a:p>
          <a:p>
            <a:endParaRPr dirty="0"/>
          </a:p>
          <a:p>
            <a:r>
              <a:rPr lang="ru-RU" dirty="0"/>
              <a:t>Второй вывод касается дополнительной информации о мишени. Оценка по </a:t>
            </a:r>
            <a:r>
              <a:rPr lang="ru-RU" dirty="0" err="1"/>
              <a:t>омиксным</a:t>
            </a:r>
            <a:r>
              <a:rPr lang="ru-RU" dirty="0"/>
              <a:t> данным позволяла отбирать локусы для последующего извлечения </a:t>
            </a:r>
            <a:r>
              <a:rPr lang="ru-RU" dirty="0" err="1"/>
              <a:t>мишений</a:t>
            </a:r>
            <a:r>
              <a:rPr dirty="0"/>
              <a:t>.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этом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промотора</a:t>
            </a:r>
            <a:r>
              <a:rPr dirty="0"/>
              <a:t> </a:t>
            </a:r>
            <a:r>
              <a:rPr dirty="0" err="1"/>
              <a:t>оказалось</a:t>
            </a:r>
            <a:r>
              <a:rPr dirty="0"/>
              <a:t> </a:t>
            </a:r>
            <a:r>
              <a:rPr dirty="0" err="1"/>
              <a:t>надёжнее</a:t>
            </a:r>
            <a:r>
              <a:rPr dirty="0"/>
              <a:t> </a:t>
            </a:r>
            <a:r>
              <a:rPr dirty="0" err="1"/>
              <a:t>оценки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телу</a:t>
            </a:r>
            <a:r>
              <a:rPr dirty="0"/>
              <a:t> </a:t>
            </a:r>
            <a:r>
              <a:rPr dirty="0" err="1"/>
              <a:t>гена</a:t>
            </a:r>
            <a:r>
              <a:rPr dirty="0"/>
              <a:t>,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именно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следует</a:t>
            </a:r>
            <a:r>
              <a:rPr dirty="0"/>
              <a:t> </a:t>
            </a:r>
            <a:r>
              <a:rPr dirty="0" err="1"/>
              <a:t>брать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эпигенетический</a:t>
            </a:r>
            <a:r>
              <a:rPr dirty="0"/>
              <a:t> </a:t>
            </a:r>
            <a:r>
              <a:rPr dirty="0" err="1"/>
              <a:t>критерий</a:t>
            </a:r>
            <a:r>
              <a:rPr dirty="0"/>
              <a:t>.</a:t>
            </a:r>
            <a:endParaRPr lang="ru-RU" dirty="0"/>
          </a:p>
          <a:p>
            <a:endParaRPr dirty="0"/>
          </a:p>
          <a:p>
            <a:r>
              <a:rPr dirty="0" err="1"/>
              <a:t>Третий</a:t>
            </a:r>
            <a:r>
              <a:rPr dirty="0"/>
              <a:t> </a:t>
            </a:r>
            <a:r>
              <a:rPr dirty="0" err="1"/>
              <a:t>вывод</a:t>
            </a:r>
            <a:r>
              <a:rPr dirty="0"/>
              <a:t> </a:t>
            </a:r>
            <a:r>
              <a:rPr dirty="0" err="1"/>
              <a:t>касается</a:t>
            </a:r>
            <a:r>
              <a:rPr dirty="0"/>
              <a:t> </a:t>
            </a:r>
            <a:r>
              <a:rPr dirty="0" err="1"/>
              <a:t>итоговых</a:t>
            </a:r>
            <a:r>
              <a:rPr dirty="0"/>
              <a:t> </a:t>
            </a:r>
            <a:r>
              <a:rPr dirty="0" err="1"/>
              <a:t>мишеней</a:t>
            </a:r>
            <a:r>
              <a:rPr dirty="0"/>
              <a:t>. </a:t>
            </a:r>
            <a:r>
              <a:rPr dirty="0" err="1"/>
              <a:t>Алгоритм</a:t>
            </a:r>
            <a:r>
              <a:rPr dirty="0"/>
              <a:t> </a:t>
            </a:r>
            <a:r>
              <a:rPr dirty="0" err="1"/>
              <a:t>воспроизводимо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биологических</a:t>
            </a:r>
            <a:r>
              <a:rPr dirty="0"/>
              <a:t> </a:t>
            </a:r>
            <a:r>
              <a:rPr dirty="0" err="1"/>
              <a:t>контекстах</a:t>
            </a:r>
            <a:r>
              <a:rPr dirty="0"/>
              <a:t> -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опухолевой</a:t>
            </a:r>
            <a:r>
              <a:rPr dirty="0"/>
              <a:t> </a:t>
            </a:r>
            <a:r>
              <a:rPr dirty="0" err="1"/>
              <a:t>линии</a:t>
            </a:r>
            <a:r>
              <a:rPr dirty="0"/>
              <a:t> K562,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нормальной</a:t>
            </a:r>
            <a:r>
              <a:rPr dirty="0"/>
              <a:t> </a:t>
            </a:r>
            <a:r>
              <a:rPr dirty="0" err="1"/>
              <a:t>линии</a:t>
            </a:r>
            <a:r>
              <a:rPr dirty="0"/>
              <a:t> NHEK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плазмидной</a:t>
            </a:r>
            <a:r>
              <a:rPr dirty="0"/>
              <a:t> </a:t>
            </a:r>
            <a:r>
              <a:rPr dirty="0" err="1"/>
              <a:t>конструкции</a:t>
            </a:r>
            <a:r>
              <a:rPr dirty="0"/>
              <a:t>, - </a:t>
            </a:r>
            <a:r>
              <a:rPr dirty="0" err="1"/>
              <a:t>то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применим</a:t>
            </a:r>
            <a:r>
              <a:rPr dirty="0"/>
              <a:t> </a:t>
            </a:r>
            <a:r>
              <a:rPr dirty="0" err="1"/>
              <a:t>к</a:t>
            </a:r>
            <a:r>
              <a:rPr dirty="0"/>
              <a:t> </a:t>
            </a:r>
            <a:r>
              <a:rPr dirty="0" err="1"/>
              <a:t>различным</a:t>
            </a:r>
            <a:r>
              <a:rPr dirty="0"/>
              <a:t> </a:t>
            </a:r>
            <a:r>
              <a:rPr dirty="0" err="1"/>
              <a:t>клеточным</a:t>
            </a:r>
            <a:r>
              <a:rPr dirty="0"/>
              <a:t> </a:t>
            </a:r>
            <a:r>
              <a:rPr dirty="0" err="1"/>
              <a:t>моделям</a:t>
            </a:r>
            <a:r>
              <a:rPr dirty="0"/>
              <a:t>.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значит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построенный</a:t>
            </a:r>
            <a:r>
              <a:rPr dirty="0"/>
              <a:t> </a:t>
            </a:r>
            <a:r>
              <a:rPr dirty="0" err="1"/>
              <a:t>пайплайн</a:t>
            </a:r>
            <a:r>
              <a:rPr dirty="0"/>
              <a:t> </a:t>
            </a:r>
            <a:r>
              <a:rPr dirty="0" err="1"/>
              <a:t>пригоден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воспроизводимый</a:t>
            </a:r>
            <a:r>
              <a:rPr dirty="0"/>
              <a:t> </a:t>
            </a:r>
            <a:r>
              <a:rPr dirty="0" err="1"/>
              <a:t>инструмент</a:t>
            </a:r>
            <a:r>
              <a:rPr dirty="0"/>
              <a:t> </a:t>
            </a:r>
            <a:r>
              <a:rPr dirty="0" err="1"/>
              <a:t>полногеномного</a:t>
            </a:r>
            <a:r>
              <a:rPr dirty="0"/>
              <a:t> </a:t>
            </a:r>
            <a:r>
              <a:rPr dirty="0" err="1"/>
              <a:t>отбора</a:t>
            </a:r>
            <a:r>
              <a:rPr dirty="0"/>
              <a:t> </a:t>
            </a:r>
            <a:r>
              <a:rPr dirty="0" err="1"/>
              <a:t>мишеней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последующей</a:t>
            </a:r>
            <a:r>
              <a:rPr dirty="0"/>
              <a:t> </a:t>
            </a:r>
            <a:r>
              <a:rPr dirty="0" err="1"/>
              <a:t>экспериментальной</a:t>
            </a:r>
            <a:r>
              <a:rPr dirty="0"/>
              <a:t> </a:t>
            </a:r>
            <a:r>
              <a:rPr dirty="0" err="1"/>
              <a:t>валидации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Спасибо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внимание</a:t>
            </a:r>
            <a:r>
              <a:rPr dirty="0"/>
              <a:t>. </a:t>
            </a:r>
            <a:r>
              <a:rPr dirty="0" err="1"/>
              <a:t>Готов</a:t>
            </a:r>
            <a:r>
              <a:rPr dirty="0"/>
              <a:t> </a:t>
            </a:r>
            <a:r>
              <a:rPr dirty="0" err="1"/>
              <a:t>ответить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ваши</a:t>
            </a:r>
            <a:r>
              <a:rPr dirty="0"/>
              <a:t> </a:t>
            </a:r>
            <a:r>
              <a:rPr dirty="0" err="1"/>
              <a:t>вопросы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Итак, теперь перейду к распределению промоторов по состояниям ChromHMM в двух клеточных линиях. Гистограммы показывают классы Active, Weak и Inactive/Poised для K562 и NHEK. Профили заметно различаются прежде всего по доле Inactive/Poised, и это отражает эпигенетическую специфику линий. Более высокая доля таких состояний указывает на промоторы в готовом состоянии, которые могут активироваться при изменении клеточного контекста. Ниже показана диаграмма Венна. Она отражает пересечение активных генов K562 и NHEK и их перекрытие с housekeeping-генами. Значительная доля housekeeping в пересечении ожидаема, потому что это гены базовых клеточных процессов. А уникальные сегменты уже указывают на клеточно-специфические кандидаты, которые наиболее интересны для таргетирования. Поэтому на этапе первичного отбора приоритет отдавали генам с меткой Active Promoter.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 этом резервном слайде показан пример расширенной таблицы кандидатов для K562 с дополнительными параметрами. Здесь можно обсудить, какие именно признаки учитывались при финальном ранжировании и как выглядела выходная таблица пайплайна.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Здесь подробнее показано, как именно оценивался триплексный потенциал. Для каждой Cas-мишени рассматривались соседние окна на обеих цепях ДНК, после чего они оценивались по содержанию пиримидинов и характеру их кластеризации. Таким образом формировался триплексная оценка, который затем использовался как дополнительный признак при приоритизации кандидатов.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 этом резервном слайде собраны дополнительные графики проверки ChromHMM. Они позволяют подробнее показать различия между покрытием промоторов и тел генов и при необходимости обсудить биологическую корректность интерпретации аннотаций.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И, наконец, здесь кратко собраны ограничения подхода и возможные продолжения работы. Основные ограничения связаны с упрощением состояний ChromHMM до бинарной схемы, выбором порога TPM, предварительным характером триплекс-скрининга и простой формулой итоговая оценка. Следующим шагом должна быть экспериментальная валидация наиболее приоритетных мишеней.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/>
          <p:cNvSpPr/>
          <p:nvPr/>
        </p:nvSpPr>
        <p:spPr>
          <a:xfrm>
            <a:off x="11704320" y="64008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</a:t>
            </a:r>
          </a:p>
        </p:txBody>
      </p:sp>
      <p:sp>
        <p:nvSpPr>
          <p:cNvPr id="6" name="Google Shape;55;p1">
            <a:extLst>
              <a:ext uri="{FF2B5EF4-FFF2-40B4-BE49-F238E27FC236}">
                <a16:creationId xmlns:a16="http://schemas.microsoft.com/office/drawing/2014/main" id="{9B25F252-686E-18AB-EEFB-91E09F02BD1C}"/>
              </a:ext>
            </a:extLst>
          </p:cNvPr>
          <p:cNvSpPr txBox="1">
            <a:spLocks/>
          </p:cNvSpPr>
          <p:nvPr/>
        </p:nvSpPr>
        <p:spPr>
          <a:xfrm>
            <a:off x="311474" y="2160403"/>
            <a:ext cx="11633200" cy="314795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БИОИНФОРМАТИЧЕСКИЙ ОТБОР МИШЕНЕЙ </a:t>
            </a:r>
            <a:r>
              <a:rPr lang="en-GB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CAS-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БЕЛКОВ С УЧЁТОМ ЭПИГЕНЕТИЧЕСКОГО КОНТЕКСТА ДЛЯ НАПРАВЛЕННОЙ РЕГУЛЯЦИИ АКТИВНОСТИ ГЕНОВ</a:t>
            </a:r>
            <a:br>
              <a:rPr lang="ru-RU" sz="2400" dirty="0">
                <a:solidFill>
                  <a:srgbClr val="000000"/>
                </a:solidFill>
              </a:rPr>
            </a:br>
            <a:br>
              <a:rPr lang="ru-RU" sz="2400" dirty="0"/>
            </a:br>
            <a:br>
              <a:rPr lang="ru-RU" sz="2400" dirty="0"/>
            </a:br>
            <a:endParaRPr lang="en" sz="24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58;p1">
            <a:extLst>
              <a:ext uri="{FF2B5EF4-FFF2-40B4-BE49-F238E27FC236}">
                <a16:creationId xmlns:a16="http://schemas.microsoft.com/office/drawing/2014/main" id="{A9C61FDC-67D7-2024-731D-D2FC62C8F8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27114" y="302137"/>
            <a:ext cx="1717560" cy="150003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60;p1">
            <a:extLst>
              <a:ext uri="{FF2B5EF4-FFF2-40B4-BE49-F238E27FC236}">
                <a16:creationId xmlns:a16="http://schemas.microsoft.com/office/drawing/2014/main" id="{B5F845AA-EAA2-58FF-9C33-F7E79335AD3C}"/>
              </a:ext>
            </a:extLst>
          </p:cNvPr>
          <p:cNvSpPr txBox="1"/>
          <p:nvPr/>
        </p:nvSpPr>
        <p:spPr>
          <a:xfrm>
            <a:off x="6800897" y="4669276"/>
            <a:ext cx="5143777" cy="1600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r">
              <a:buClr>
                <a:srgbClr val="000000"/>
              </a:buClr>
              <a:buSzPts val="1200"/>
            </a:pPr>
            <a:r>
              <a:rPr lang="ru-RU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Выполнил: </a:t>
            </a:r>
            <a:endParaRPr sz="18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r">
              <a:buClr>
                <a:srgbClr val="000000"/>
              </a:buClr>
              <a:buSzPts val="1200"/>
            </a:pPr>
            <a:r>
              <a:rPr lang="ru-RU" sz="1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Узденов Азамат</a:t>
            </a:r>
            <a:endParaRPr sz="1867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r">
              <a:buClr>
                <a:srgbClr val="000000"/>
              </a:buClr>
              <a:buSzPts val="1200"/>
            </a:pPr>
            <a:endParaRPr sz="16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r">
              <a:buClr>
                <a:srgbClr val="000000"/>
              </a:buClr>
              <a:buSzPts val="1200"/>
            </a:pPr>
            <a:r>
              <a:rPr lang="ru-RU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Руководители:</a:t>
            </a: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r">
              <a:buClr>
                <a:srgbClr val="000000"/>
              </a:buClr>
              <a:buSzPts val="1200"/>
            </a:pPr>
            <a:r>
              <a:rPr lang="ru-RU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н.с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Грибкова А. К.</a:t>
            </a:r>
            <a:endParaRPr sz="16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r">
              <a:buClr>
                <a:srgbClr val="000000"/>
              </a:buClr>
              <a:buSzPts val="1200"/>
            </a:pPr>
            <a:r>
              <a:rPr lang="ru-RU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д.ф.-</a:t>
            </a:r>
            <a:r>
              <a:rPr lang="ru-RU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м.н</a:t>
            </a:r>
            <a:r>
              <a:rPr lang="ru-RU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чл.-корр. РАН, профессор </a:t>
            </a:r>
            <a:r>
              <a:rPr lang="ru-RU" sz="1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Шайтан А.К.</a:t>
            </a:r>
            <a:r>
              <a:rPr lang="ru-RU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Picture 2" descr="bioeng.ru – Сайт кафедры биоинженерии биологического факультета МГУ">
            <a:extLst>
              <a:ext uri="{FF2B5EF4-FFF2-40B4-BE49-F238E27FC236}">
                <a16:creationId xmlns:a16="http://schemas.microsoft.com/office/drawing/2014/main" id="{0EC60F8B-6E81-9E66-828F-8E59E8F91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2442"/>
            <a:ext cx="4725362" cy="1258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60;p1">
            <a:extLst>
              <a:ext uri="{FF2B5EF4-FFF2-40B4-BE49-F238E27FC236}">
                <a16:creationId xmlns:a16="http://schemas.microsoft.com/office/drawing/2014/main" id="{9F9A5E59-A36B-4848-2CCD-58A6BE0500B4}"/>
              </a:ext>
            </a:extLst>
          </p:cNvPr>
          <p:cNvSpPr txBox="1"/>
          <p:nvPr/>
        </p:nvSpPr>
        <p:spPr>
          <a:xfrm>
            <a:off x="3524111" y="2531369"/>
            <a:ext cx="5143777" cy="3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r">
              <a:buClr>
                <a:srgbClr val="000000"/>
              </a:buClr>
              <a:buSzPts val="1200"/>
            </a:pPr>
            <a:r>
              <a:rPr lang="ru-RU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Выпускная квалификационная работа бакалавра</a:t>
            </a: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8853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256032"/>
            <a:ext cx="1408176" cy="73152"/>
          </a:xfrm>
          <a:prstGeom prst="rect">
            <a:avLst/>
          </a:prstGeom>
          <a:solidFill>
            <a:srgbClr val="CFE3DE"/>
          </a:solidFill>
          <a:ln w="12700">
            <a:solidFill>
              <a:srgbClr val="CFE3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sz="2400" b="1" dirty="0" err="1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Введение</a:t>
            </a:r>
            <a:endParaRPr sz="2400" b="1" dirty="0">
              <a:solidFill>
                <a:srgbClr val="2323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12064" y="841248"/>
            <a:ext cx="11155680" cy="0"/>
          </a:xfrm>
          <a:prstGeom prst="line">
            <a:avLst/>
          </a:prstGeom>
          <a:noFill/>
          <a:ln w="15240">
            <a:solidFill>
              <a:srgbClr val="D7D0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50000" y="1106919"/>
            <a:ext cx="45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b="1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Что мы оцениваем</a:t>
            </a:r>
          </a:p>
        </p:txBody>
      </p:sp>
      <p:sp>
        <p:nvSpPr>
          <p:cNvPr id="6" name="Text 4"/>
          <p:cNvSpPr/>
          <p:nvPr/>
        </p:nvSpPr>
        <p:spPr>
          <a:xfrm>
            <a:off x="550000" y="1506919"/>
            <a:ext cx="3723617" cy="4500000"/>
          </a:xfrm>
          <a:prstGeom prst="rect">
            <a:avLst/>
          </a:prstGeom>
          <a:noFill/>
          <a:ln/>
        </p:spPr>
        <p:txBody>
          <a:bodyPr wrap="square" lIns="73152" tIns="36576" rIns="73152" bIns="36576" rtlCol="0" anchor="t">
            <a:normAutofit/>
          </a:bodyPr>
          <a:lstStyle/>
          <a:p>
            <a:pPr marL="0" indent="0">
              <a:lnSpc>
                <a:spcPct val="106000"/>
              </a:lnSpc>
              <a:spcAft>
                <a:spcPts val="800"/>
              </a:spcAft>
              <a:buNone/>
            </a:pPr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gRNA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- 20-нт направляющая РНК, задаёт целевой участок ДНК.</a:t>
            </a:r>
          </a:p>
          <a:p>
            <a:pPr marL="0" indent="0">
              <a:lnSpc>
                <a:spcPct val="106000"/>
              </a:lnSpc>
              <a:spcAft>
                <a:spcPts val="800"/>
              </a:spcAft>
              <a:buNone/>
            </a:pPr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Целевая активность (on target)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ожидаемая эффективность в нужном локусе.</a:t>
            </a:r>
          </a:p>
          <a:p>
            <a:pPr marL="0" indent="0">
              <a:lnSpc>
                <a:spcPct val="106000"/>
              </a:lnSpc>
              <a:spcAft>
                <a:spcPts val="800"/>
              </a:spcAft>
              <a:buNone/>
            </a:pPr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Специфичность (off target)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риск похожих внецелевых участков.</a:t>
            </a:r>
          </a:p>
          <a:p>
            <a:pPr marL="0" indent="0">
              <a:lnSpc>
                <a:spcPct val="106000"/>
              </a:lnSpc>
              <a:spcAft>
                <a:spcPts val="800"/>
              </a:spcAft>
              <a:buNone/>
            </a:pPr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Триплексный потенциал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возможность структуры РНК-ДНК-ДНК рядом с мишенью.</a:t>
            </a:r>
          </a:p>
          <a:p>
            <a:pPr marL="0" indent="0">
              <a:lnSpc>
                <a:spcPct val="106000"/>
              </a:lnSpc>
              <a:spcAft>
                <a:spcPts val="800"/>
              </a:spcAft>
              <a:buNone/>
            </a:pPr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Эпигенетический контекст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состояние хроматина, экспрессия и метилирование вблизи мишени.</a:t>
            </a:r>
          </a:p>
        </p:txBody>
      </p:sp>
      <p:sp>
        <p:nvSpPr>
          <p:cNvPr id="11" name="Text 7"/>
          <p:cNvSpPr/>
          <p:nvPr/>
        </p:nvSpPr>
        <p:spPr>
          <a:xfrm>
            <a:off x="11704320" y="64008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latin typeface="Arial"/>
              </a:rPr>
              <a:t>2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D89B709-3CD0-38F0-0FC6-6869C3C81E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075" y="750976"/>
            <a:ext cx="7001265" cy="4839263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CaptionFig2"/>
          <p:cNvSpPr txBox="1"/>
          <p:nvPr/>
        </p:nvSpPr>
        <p:spPr>
          <a:xfrm>
            <a:off x="4816416" y="5590239"/>
            <a:ext cx="6494585" cy="400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buNone/>
            </a:pPr>
            <a:r>
              <a:rPr lang="ru-RU" sz="1400" b="0" i="1" dirty="0">
                <a:solidFill>
                  <a:srgbClr val="595959"/>
                </a:solidFill>
                <a:cs typeface="Arial"/>
              </a:rPr>
              <a:t>Схема взаимодействия Cas-белка с ДНК и оцениваемые признаки мишени</a:t>
            </a: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DFF9E4E1-6851-ED09-22FA-5A11D9FD568A}"/>
              </a:ext>
            </a:extLst>
          </p:cNvPr>
          <p:cNvSpPr/>
          <p:nvPr/>
        </p:nvSpPr>
        <p:spPr>
          <a:xfrm>
            <a:off x="530352" y="256032"/>
            <a:ext cx="1773936" cy="73152"/>
          </a:xfrm>
          <a:prstGeom prst="rect">
            <a:avLst/>
          </a:prstGeom>
          <a:solidFill>
            <a:srgbClr val="EAD3C4"/>
          </a:solidFill>
          <a:ln w="12700">
            <a:solidFill>
              <a:srgbClr val="EAD3C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7147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256032"/>
            <a:ext cx="1773936" cy="73152"/>
          </a:xfrm>
          <a:prstGeom prst="rect">
            <a:avLst/>
          </a:prstGeom>
          <a:solidFill>
            <a:srgbClr val="EAD3C4"/>
          </a:solidFill>
          <a:ln w="12700">
            <a:solidFill>
              <a:srgbClr val="EAD3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sz="2400" b="1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Цель</a:t>
            </a:r>
            <a:r>
              <a:rPr sz="2400" b="1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sz="2400" b="1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задачи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12064" y="841248"/>
            <a:ext cx="11155680" cy="0"/>
          </a:xfrm>
          <a:prstGeom prst="line">
            <a:avLst/>
          </a:prstGeom>
          <a:noFill/>
          <a:ln w="15240">
            <a:solidFill>
              <a:srgbClr val="D7D0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1524180"/>
            <a:ext cx="5179724" cy="12893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0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24838" y="1170431"/>
            <a:ext cx="2018362" cy="262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b="1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Цель</a:t>
            </a:r>
            <a:r>
              <a:rPr b="1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работы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04672" y="1799664"/>
            <a:ext cx="5241974" cy="7139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sz="1600" b="0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Разработать</a:t>
            </a:r>
            <a:r>
              <a:rPr sz="1600" b="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sz="1600" b="0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применить</a:t>
            </a:r>
            <a:r>
              <a:rPr sz="1600" b="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0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подход</a:t>
            </a:r>
            <a:r>
              <a:rPr sz="1600" b="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0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sz="1600" b="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0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отбора</a:t>
            </a:r>
            <a:r>
              <a:rPr sz="1600" b="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sz="1600" b="0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ранжирования</a:t>
            </a:r>
            <a:r>
              <a:rPr sz="1600" b="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0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мишеней</a:t>
            </a:r>
            <a:r>
              <a:rPr sz="1600" b="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CRISPR/Cas в </a:t>
            </a:r>
            <a:r>
              <a:rPr sz="1600" b="0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геноме</a:t>
            </a:r>
            <a:r>
              <a:rPr sz="1600" b="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0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человека</a:t>
            </a:r>
            <a:r>
              <a:rPr sz="1600" b="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0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sz="1600" b="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0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основе</a:t>
            </a:r>
            <a:r>
              <a:rPr sz="1600" b="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0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интеграции</a:t>
            </a:r>
            <a:r>
              <a:rPr sz="1600" b="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0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мультиомиксных</a:t>
            </a:r>
            <a:r>
              <a:rPr sz="1600" b="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0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данных</a:t>
            </a:r>
            <a:r>
              <a:rPr sz="1600" b="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для задач направленной регуляции активности генов.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24838" y="294522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b="1" dirty="0" err="1">
                <a:solidFill>
                  <a:srgbClr val="212121"/>
                </a:solidFill>
              </a:rPr>
              <a:t>Задачи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4838" y="3196530"/>
            <a:ext cx="5486400" cy="3011481"/>
          </a:xfrm>
          <a:prstGeom prst="rect">
            <a:avLst/>
          </a:prstGeom>
          <a:noFill/>
          <a:ln/>
        </p:spPr>
        <p:txBody>
          <a:bodyPr wrap="square" lIns="73152" tIns="36576" rIns="73152" bIns="36576" rtlCol="0" anchor="t">
            <a:noAutofit/>
          </a:bodyPr>
          <a:lstStyle/>
          <a:p>
            <a:pPr marL="0" indent="0">
              <a:lnSpc>
                <a:spcPct val="106000"/>
              </a:lnSpc>
              <a:spcAft>
                <a:spcPts val="600"/>
              </a:spcAft>
              <a:buNone/>
            </a:pP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Разработать алгоритм подбора целевых последовательностей </a:t>
            </a:r>
            <a:r>
              <a:rPr lang="en-GB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CRISPR/Cas: 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оценка целевой активности, специфичности и триплексного потенциала.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На основе экспрессии, состояний хроматина и метилирования ДНК выделить наборы генов-мишеней в </a:t>
            </a:r>
            <a:r>
              <a:rPr lang="en-GB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K562 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GB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NHEK.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en-GB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Применить алгоритм к </a:t>
            </a:r>
            <a:r>
              <a:rPr lang="ru-RU"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плазмидной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конструкции и к геномам линий </a:t>
            </a:r>
            <a:r>
              <a:rPr lang="en-GB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K562 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GB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NHEK.</a:t>
            </a:r>
          </a:p>
        </p:txBody>
      </p:sp>
      <p:sp>
        <p:nvSpPr>
          <p:cNvPr id="12" name="Text 8"/>
          <p:cNvSpPr/>
          <p:nvPr/>
        </p:nvSpPr>
        <p:spPr>
          <a:xfrm>
            <a:off x="11704320" y="64008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latin typeface="Arial"/>
              </a:rPr>
              <a:t>3</a:t>
            </a:r>
          </a:p>
        </p:txBody>
      </p:sp>
      <p:pic>
        <p:nvPicPr>
          <p:cNvPr id="13" name="Picture 12" descr="image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624" y="894555"/>
            <a:ext cx="6057736" cy="23149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71050" y="3121223"/>
            <a:ext cx="364888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 dirty="0" err="1">
                <a:solidFill>
                  <a:srgbClr val="5A5A5A"/>
                </a:solidFill>
                <a:cs typeface="Arial" panose="020B0604020202020204" pitchFamily="34" charset="0"/>
              </a:rPr>
              <a:t>Схема</a:t>
            </a:r>
            <a:r>
              <a:rPr sz="1400" i="1" dirty="0">
                <a:solidFill>
                  <a:srgbClr val="5A5A5A"/>
                </a:solidFill>
                <a:cs typeface="Arial" panose="020B0604020202020204" pitchFamily="34" charset="0"/>
              </a:rPr>
              <a:t> </a:t>
            </a:r>
            <a:r>
              <a:rPr sz="1400" i="1" dirty="0" err="1">
                <a:solidFill>
                  <a:srgbClr val="5A5A5A"/>
                </a:solidFill>
                <a:cs typeface="Arial" panose="020B0604020202020204" pitchFamily="34" charset="0"/>
              </a:rPr>
              <a:t>взаимодействия</a:t>
            </a:r>
            <a:r>
              <a:rPr sz="1400" i="1" dirty="0">
                <a:solidFill>
                  <a:srgbClr val="5A5A5A"/>
                </a:solidFill>
                <a:cs typeface="Arial" panose="020B0604020202020204" pitchFamily="34" charset="0"/>
              </a:rPr>
              <a:t> Cas-</a:t>
            </a:r>
            <a:r>
              <a:rPr sz="1400" i="1" dirty="0" err="1">
                <a:solidFill>
                  <a:srgbClr val="5A5A5A"/>
                </a:solidFill>
                <a:cs typeface="Arial" panose="020B0604020202020204" pitchFamily="34" charset="0"/>
              </a:rPr>
              <a:t>белка</a:t>
            </a:r>
            <a:r>
              <a:rPr sz="1400" i="1" dirty="0">
                <a:solidFill>
                  <a:srgbClr val="5A5A5A"/>
                </a:solidFill>
                <a:cs typeface="Arial" panose="020B0604020202020204" pitchFamily="34" charset="0"/>
              </a:rPr>
              <a:t> с ДНК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48A7789-205D-C8A1-7317-DDBDD2C27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0" y="3494264"/>
            <a:ext cx="4661915" cy="27790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B96463-6C83-2785-6667-E808131E7C9E}"/>
              </a:ext>
            </a:extLst>
          </p:cNvPr>
          <p:cNvSpPr txBox="1"/>
          <p:nvPr/>
        </p:nvSpPr>
        <p:spPr>
          <a:xfrm>
            <a:off x="6943495" y="6119386"/>
            <a:ext cx="410400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ru-RU" sz="1400" i="1" dirty="0">
                <a:solidFill>
                  <a:srgbClr val="5A5A5A"/>
                </a:solidFill>
                <a:cs typeface="Arial" panose="020B0604020202020204" pitchFamily="34" charset="0"/>
              </a:rPr>
              <a:t>Схема образования триплексных конструкций</a:t>
            </a:r>
            <a:endParaRPr sz="1400" i="1" dirty="0">
              <a:solidFill>
                <a:srgbClr val="5A5A5A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965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8368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sz="2400" b="1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Методология</a:t>
            </a:r>
            <a:r>
              <a:rPr sz="2400" b="1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исследования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12064" y="841248"/>
            <a:ext cx="11155680" cy="0"/>
          </a:xfrm>
          <a:prstGeom prst="line">
            <a:avLst/>
          </a:prstGeom>
          <a:noFill/>
          <a:ln w="15240">
            <a:solidFill>
              <a:srgbClr val="D7D0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2196668"/>
            <a:ext cx="3310128" cy="3887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0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31520" y="2185590"/>
            <a:ext cx="3310128" cy="523144"/>
          </a:xfrm>
          <a:prstGeom prst="rect">
            <a:avLst/>
          </a:prstGeom>
          <a:solidFill>
            <a:srgbClr val="CFE3DE"/>
          </a:solidFill>
          <a:ln w="12700">
            <a:solidFill>
              <a:srgbClr val="CFE3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84500" y="2372337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b="1" dirty="0" err="1">
                <a:solidFill>
                  <a:srgbClr val="1E1E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Исходные</a:t>
            </a:r>
            <a:r>
              <a:rPr b="1" dirty="0">
                <a:solidFill>
                  <a:srgbClr val="1E1E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solidFill>
                  <a:srgbClr val="1E1E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данные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3876" y="2776604"/>
            <a:ext cx="3310128" cy="3059022"/>
          </a:xfrm>
          <a:prstGeom prst="rect">
            <a:avLst/>
          </a:prstGeom>
          <a:noFill/>
          <a:ln/>
        </p:spPr>
        <p:txBody>
          <a:bodyPr wrap="square" lIns="73152" tIns="36576" rIns="73152" bIns="36576" rtlCol="0" anchor="ctr">
            <a:noAutofit/>
          </a:bodyPr>
          <a:lstStyle/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NCBI Gene 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координаты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генов</a:t>
            </a:r>
            <a:r>
              <a:rPr lang="en-US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промоторов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600" b="1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ChIP</a:t>
            </a:r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-Atlas</a:t>
            </a:r>
            <a:r>
              <a:rPr lang="ru-RU"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GB" sz="1600" b="1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ChromHMM</a:t>
            </a:r>
            <a:r>
              <a:rPr lang="ru-RU"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состояния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хроматина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ENCODE RNA-seq 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экспрессия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генов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ENCODE </a:t>
            </a:r>
            <a:r>
              <a:rPr sz="1600" b="1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метилирование</a:t>
            </a:r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ДНК 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дополнительный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эпигенетический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фильтр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HPA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housekeeping-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гены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исключения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базового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фона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Shape 7"/>
          <p:cNvSpPr/>
          <p:nvPr/>
        </p:nvSpPr>
        <p:spPr>
          <a:xfrm>
            <a:off x="4353599" y="2185590"/>
            <a:ext cx="3310128" cy="391011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0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353599" y="2185589"/>
            <a:ext cx="3310128" cy="534221"/>
          </a:xfrm>
          <a:prstGeom prst="rect">
            <a:avLst/>
          </a:prstGeom>
          <a:solidFill>
            <a:srgbClr val="EAD3C4"/>
          </a:solidFill>
          <a:ln w="12700">
            <a:solidFill>
              <a:srgbClr val="EAD3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353598" y="2214865"/>
            <a:ext cx="3324547" cy="534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ru-RU" b="1" dirty="0">
                <a:solidFill>
                  <a:srgbClr val="1E1E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Критерии активности генов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39180" y="2372337"/>
            <a:ext cx="3441533" cy="2606390"/>
          </a:xfrm>
          <a:prstGeom prst="rect">
            <a:avLst/>
          </a:prstGeom>
          <a:noFill/>
          <a:ln/>
        </p:spPr>
        <p:txBody>
          <a:bodyPr wrap="square" lIns="73152" tIns="36576" rIns="73152" bIns="36576" rtlCol="0" anchor="ctr">
            <a:noAutofit/>
          </a:bodyPr>
          <a:lstStyle/>
          <a:p>
            <a:pPr marL="0" indent="0">
              <a:lnSpc>
                <a:spcPct val="106000"/>
              </a:lnSpc>
              <a:spcAft>
                <a:spcPts val="600"/>
              </a:spcAft>
              <a:buNone/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600" b="1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Промотор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- 500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п.н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TSS,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сайта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старта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транскрипции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 Promoter </a:t>
            </a:r>
            <a:r>
              <a:rPr sz="1600" b="1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</a:t>
            </a:r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ChromHMM</a:t>
            </a:r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активное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состояние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промотора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TPM &gt; 1 </a:t>
            </a:r>
            <a:r>
              <a:rPr sz="1600" b="1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</a:t>
            </a:r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RNA-seq 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ген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считается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активным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3" name="Shape 11"/>
          <p:cNvSpPr/>
          <p:nvPr/>
        </p:nvSpPr>
        <p:spPr>
          <a:xfrm>
            <a:off x="7973568" y="2174513"/>
            <a:ext cx="3501448" cy="391011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0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971458" y="2196668"/>
            <a:ext cx="3503558" cy="534222"/>
          </a:xfrm>
          <a:prstGeom prst="rect">
            <a:avLst/>
          </a:prstGeom>
          <a:solidFill>
            <a:srgbClr val="F2E8BF"/>
          </a:solidFill>
          <a:ln w="12700">
            <a:solidFill>
              <a:srgbClr val="F2E8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045888" y="2214866"/>
            <a:ext cx="3414591" cy="516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b="1" dirty="0" err="1">
                <a:solidFill>
                  <a:srgbClr val="1E1E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Инструменты</a:t>
            </a:r>
            <a:r>
              <a:rPr b="1" dirty="0">
                <a:solidFill>
                  <a:srgbClr val="1E1E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b="1" dirty="0" err="1">
                <a:solidFill>
                  <a:srgbClr val="1E1E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назначение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73568" y="2489277"/>
            <a:ext cx="3501448" cy="2914998"/>
          </a:xfrm>
          <a:prstGeom prst="rect">
            <a:avLst/>
          </a:prstGeom>
          <a:noFill/>
          <a:ln/>
        </p:spPr>
        <p:txBody>
          <a:bodyPr wrap="square" lIns="73152" tIns="36576" rIns="73152" bIns="36576" rtlCol="0" anchor="ctr">
            <a:noAutofit/>
          </a:bodyPr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GB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GB"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3.10 </a:t>
            </a:r>
            <a:r>
              <a:rPr lang="en-GB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автоматизация отбора и таблицы.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bedtools intersect 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пересечение промоторов с аннотациями.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Инструмент «Azimuth 2.0» 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оценка целевой активности gRNA.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Инструмент «MIT Off-Target» 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оценка специфичности gRNA.</a:t>
            </a:r>
          </a:p>
        </p:txBody>
      </p:sp>
      <p:sp>
        <p:nvSpPr>
          <p:cNvPr id="17" name="Text 15"/>
          <p:cNvSpPr/>
          <p:nvPr/>
        </p:nvSpPr>
        <p:spPr>
          <a:xfrm>
            <a:off x="731520" y="884951"/>
            <a:ext cx="2539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b="1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Логика</a:t>
            </a:r>
            <a:r>
              <a:rPr b="1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исследования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" y="1344168"/>
            <a:ext cx="101973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sz="1600" b="1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оценка мишеней на основе последовательностей → 2) оценка мишеней на основе омиксных данных → 3) получение итогового списка кандидатов</a:t>
            </a:r>
          </a:p>
        </p:txBody>
      </p:sp>
      <p:sp>
        <p:nvSpPr>
          <p:cNvPr id="20" name="Text 17"/>
          <p:cNvSpPr/>
          <p:nvPr/>
        </p:nvSpPr>
        <p:spPr>
          <a:xfrm>
            <a:off x="11704320" y="64008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latin typeface="Arial"/>
              </a:rPr>
              <a:t>4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C1F22DBC-58ED-5932-FF6A-A93246E6E939}"/>
              </a:ext>
            </a:extLst>
          </p:cNvPr>
          <p:cNvSpPr/>
          <p:nvPr/>
        </p:nvSpPr>
        <p:spPr>
          <a:xfrm>
            <a:off x="530352" y="256032"/>
            <a:ext cx="1773936" cy="73152"/>
          </a:xfrm>
          <a:prstGeom prst="rect">
            <a:avLst/>
          </a:prstGeom>
          <a:solidFill>
            <a:srgbClr val="EAD3C4"/>
          </a:solidFill>
          <a:ln w="12700">
            <a:solidFill>
              <a:srgbClr val="EAD3C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5059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8368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sz="2400" b="1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 алгоритма отбора мишеней</a:t>
            </a:r>
          </a:p>
        </p:txBody>
      </p:sp>
      <p:sp>
        <p:nvSpPr>
          <p:cNvPr id="4" name="Shape 2"/>
          <p:cNvSpPr/>
          <p:nvPr/>
        </p:nvSpPr>
        <p:spPr>
          <a:xfrm>
            <a:off x="512064" y="841248"/>
            <a:ext cx="11155680" cy="0"/>
          </a:xfrm>
          <a:prstGeom prst="line">
            <a:avLst/>
          </a:prstGeom>
          <a:noFill/>
          <a:ln w="15240">
            <a:solidFill>
              <a:srgbClr val="D7D0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49807" y="1170432"/>
            <a:ext cx="3162769" cy="219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b="1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Что</a:t>
            </a:r>
            <a:r>
              <a:rPr b="1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оценивает</a:t>
            </a:r>
            <a:r>
              <a:rPr b="1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499611"/>
            <a:ext cx="4436146" cy="4030750"/>
          </a:xfrm>
          <a:prstGeom prst="rect">
            <a:avLst/>
          </a:prstGeom>
          <a:noFill/>
          <a:ln/>
        </p:spPr>
        <p:txBody>
          <a:bodyPr wrap="square" lIns="73152" tIns="36576" rIns="73152" bIns="36576" rtlCol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Алгоритм работает в три этапа: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1) оценка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мишеней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последовательностям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2) оценка по омиксным данным,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3) ранжированный список кандидатов.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Вход - координаты генов,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аннотации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ChromHMM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данные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RNA-seq и метилирования.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Выход - таблица gRNA с целевой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активностью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специфичностью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триплексным потенциалом.</a:t>
            </a:r>
          </a:p>
        </p:txBody>
      </p:sp>
      <p:sp>
        <p:nvSpPr>
          <p:cNvPr id="13" name="Text 8"/>
          <p:cNvSpPr/>
          <p:nvPr/>
        </p:nvSpPr>
        <p:spPr>
          <a:xfrm>
            <a:off x="11704320" y="64008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latin typeface="Arial"/>
              </a:rPr>
              <a:t>5</a:t>
            </a:r>
          </a:p>
        </p:txBody>
      </p:sp>
      <p:pic>
        <p:nvPicPr>
          <p:cNvPr id="14" name="Picture 13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4514" y="998141"/>
            <a:ext cx="6905486" cy="5177509"/>
          </a:xfrm>
          <a:prstGeom prst="rect">
            <a:avLst/>
          </a:prstGeom>
        </p:spPr>
      </p:pic>
      <p:sp>
        <p:nvSpPr>
          <p:cNvPr id="310" name="CaptionFig5"/>
          <p:cNvSpPr txBox="1"/>
          <p:nvPr/>
        </p:nvSpPr>
        <p:spPr>
          <a:xfrm>
            <a:off x="5414340" y="6075907"/>
            <a:ext cx="64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buNone/>
            </a:pPr>
            <a:r>
              <a:rPr lang="ru-RU" sz="1400" b="0" i="1" dirty="0">
                <a:solidFill>
                  <a:srgbClr val="595959"/>
                </a:solidFill>
                <a:cs typeface="Arial"/>
              </a:rPr>
              <a:t>Схема алгоритма: оценка по последовательностям, омиксным данным и итоговый список</a:t>
            </a: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FDE5DB9B-D226-8FDE-431A-28E2E95EF548}"/>
              </a:ext>
            </a:extLst>
          </p:cNvPr>
          <p:cNvSpPr/>
          <p:nvPr/>
        </p:nvSpPr>
        <p:spPr>
          <a:xfrm>
            <a:off x="530352" y="256032"/>
            <a:ext cx="1773936" cy="73152"/>
          </a:xfrm>
          <a:prstGeom prst="rect">
            <a:avLst/>
          </a:prstGeom>
          <a:solidFill>
            <a:srgbClr val="EAD3C4"/>
          </a:solidFill>
          <a:ln w="12700">
            <a:solidFill>
              <a:srgbClr val="EAD3C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9742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347472"/>
            <a:ext cx="10607040" cy="41549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ru-RU" sz="2400" b="1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Оценка корректности метода: </a:t>
            </a:r>
            <a:r>
              <a:rPr lang="en-US" sz="2400" b="1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ChromHMM</a:t>
            </a:r>
            <a:endParaRPr sz="2400" b="1" dirty="0">
              <a:solidFill>
                <a:srgbClr val="21212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338560" cy="18288"/>
          </a:xfrm>
          <a:prstGeom prst="rect">
            <a:avLst/>
          </a:prstGeom>
          <a:solidFill>
            <a:srgbClr val="D8C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95760" y="640080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6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EC7F689-AD94-DFEE-C667-136576459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0530" y="2122878"/>
            <a:ext cx="8805286" cy="3692413"/>
          </a:xfrm>
          <a:prstGeom prst="rect">
            <a:avLst/>
          </a:prstGeom>
        </p:spPr>
      </p:pic>
      <p:sp>
        <p:nvSpPr>
          <p:cNvPr id="200" name="IntroText"/>
          <p:cNvSpPr txBox="1"/>
          <p:nvPr/>
        </p:nvSpPr>
        <p:spPr>
          <a:xfrm>
            <a:off x="658368" y="937814"/>
            <a:ext cx="10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ChromHMM - инструмент, делящий геном на состояния хроматина по эпигенетическим меткам.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Перед использованием проверили биологическую корректность аннотаций.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Доли состояний согласуются с литературой: большая часть генома - гетерохроматин, активные элементы составляют небольшую долю.</a:t>
            </a:r>
          </a:p>
        </p:txBody>
      </p:sp>
      <p:sp>
        <p:nvSpPr>
          <p:cNvPr id="320" name="CapPie6"/>
          <p:cNvSpPr txBox="1"/>
          <p:nvPr/>
        </p:nvSpPr>
        <p:spPr>
          <a:xfrm>
            <a:off x="140530" y="5640291"/>
            <a:ext cx="323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buNone/>
            </a:pPr>
            <a:r>
              <a:rPr lang="ru-RU" sz="1400" b="0" i="1" dirty="0">
                <a:solidFill>
                  <a:srgbClr val="595959"/>
                </a:solidFill>
                <a:cs typeface="Arial"/>
              </a:rPr>
              <a:t>Доли покрытия промоторов состояниями ChromHMM</a:t>
            </a:r>
          </a:p>
        </p:txBody>
      </p:sp>
      <p:sp>
        <p:nvSpPr>
          <p:cNvPr id="321" name="CapBar6"/>
          <p:cNvSpPr txBox="1"/>
          <p:nvPr/>
        </p:nvSpPr>
        <p:spPr>
          <a:xfrm>
            <a:off x="4206139" y="5753000"/>
            <a:ext cx="75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buNone/>
            </a:pPr>
            <a:r>
              <a:rPr lang="ru-RU" sz="1400" b="0" i="1" dirty="0">
                <a:solidFill>
                  <a:srgbClr val="595959"/>
                </a:solidFill>
                <a:cs typeface="Arial"/>
              </a:rPr>
              <a:t>Доли состояний ChromHMM по геному K562</a:t>
            </a: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5E21B5E3-8BA8-7629-9E26-4C3E97D6D9BD}"/>
              </a:ext>
            </a:extLst>
          </p:cNvPr>
          <p:cNvSpPr/>
          <p:nvPr/>
        </p:nvSpPr>
        <p:spPr>
          <a:xfrm>
            <a:off x="530352" y="256032"/>
            <a:ext cx="1773936" cy="73152"/>
          </a:xfrm>
          <a:prstGeom prst="rect">
            <a:avLst/>
          </a:prstGeom>
          <a:solidFill>
            <a:srgbClr val="EAD3C4"/>
          </a:solidFill>
          <a:ln w="12700">
            <a:solidFill>
              <a:srgbClr val="EAD3C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D2321ED-A8C2-545C-231E-A567974C2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4" y="2278497"/>
            <a:ext cx="3478691" cy="301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197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347472"/>
            <a:ext cx="10607040" cy="41549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400" b="1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Как будем использовать ChromHMM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338560" cy="18288"/>
          </a:xfrm>
          <a:prstGeom prst="rect">
            <a:avLst/>
          </a:prstGeom>
          <a:solidFill>
            <a:srgbClr val="D8C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95760" y="640080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7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B69EAD0-60D1-3C96-2BA8-18A9F9961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70" y="2100464"/>
            <a:ext cx="5132579" cy="3987453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287D1B8-EC31-9111-B2B1-B91ED8787C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208791"/>
            <a:ext cx="4555654" cy="3417595"/>
          </a:xfrm>
          <a:prstGeom prst="rect">
            <a:avLst/>
          </a:prstGeom>
        </p:spPr>
      </p:pic>
      <p:sp>
        <p:nvSpPr>
          <p:cNvPr id="201" name="IntroText"/>
          <p:cNvSpPr txBox="1"/>
          <p:nvPr/>
        </p:nvSpPr>
        <p:spPr>
          <a:xfrm>
            <a:off x="658368" y="930000"/>
            <a:ext cx="10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Активность гена определяем по состоянию его промотора.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Тело гена длиннее и мозаичнее: вдоль него состояния хроматина чередуются и дают ложные сигналы.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Диаграммы Венна показывают: оценка по промотору логичнее разделяет активные гены и гены в репрессированном состоянии.</a:t>
            </a:r>
          </a:p>
        </p:txBody>
      </p:sp>
      <p:sp>
        <p:nvSpPr>
          <p:cNvPr id="330" name="CapVenn7a"/>
          <p:cNvSpPr txBox="1"/>
          <p:nvPr/>
        </p:nvSpPr>
        <p:spPr>
          <a:xfrm>
            <a:off x="1022810" y="5641587"/>
            <a:ext cx="4131300" cy="350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buNone/>
            </a:pPr>
            <a:r>
              <a:rPr lang="ru-RU" sz="1400" b="0" i="1" dirty="0">
                <a:solidFill>
                  <a:srgbClr val="595959"/>
                </a:solidFill>
                <a:cs typeface="Arial"/>
              </a:rPr>
              <a:t>Состояния генов по промотору</a:t>
            </a:r>
          </a:p>
        </p:txBody>
      </p:sp>
      <p:sp>
        <p:nvSpPr>
          <p:cNvPr id="331" name="CapVenn7b"/>
          <p:cNvSpPr txBox="1"/>
          <p:nvPr/>
        </p:nvSpPr>
        <p:spPr>
          <a:xfrm>
            <a:off x="6384377" y="5667873"/>
            <a:ext cx="4131300" cy="350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buNone/>
            </a:pPr>
            <a:r>
              <a:rPr lang="ru-RU" sz="1400" b="0" i="1" dirty="0">
                <a:solidFill>
                  <a:srgbClr val="595959"/>
                </a:solidFill>
                <a:cs typeface="Arial"/>
              </a:rPr>
              <a:t>Состояния генов по телу гена</a:t>
            </a: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7EE919ED-33B3-3FC8-F2E4-5B9E46AE8E3D}"/>
              </a:ext>
            </a:extLst>
          </p:cNvPr>
          <p:cNvSpPr/>
          <p:nvPr/>
        </p:nvSpPr>
        <p:spPr>
          <a:xfrm>
            <a:off x="530352" y="256032"/>
            <a:ext cx="1773936" cy="73152"/>
          </a:xfrm>
          <a:prstGeom prst="rect">
            <a:avLst/>
          </a:prstGeom>
          <a:solidFill>
            <a:srgbClr val="EAD3C4"/>
          </a:solidFill>
          <a:ln w="12700">
            <a:solidFill>
              <a:srgbClr val="EAD3C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83576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8368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2400" b="1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Согласованность</a:t>
            </a:r>
            <a:r>
              <a:rPr sz="2400" b="1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1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эпигенетики</a:t>
            </a:r>
            <a:r>
              <a:rPr sz="2400" b="1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sz="2400" b="1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экспрессии</a:t>
            </a:r>
            <a:endParaRPr sz="2400" b="1" dirty="0">
              <a:solidFill>
                <a:srgbClr val="21212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12064" y="841248"/>
            <a:ext cx="11155680" cy="0"/>
          </a:xfrm>
          <a:prstGeom prst="line">
            <a:avLst/>
          </a:prstGeom>
          <a:noFill/>
          <a:ln w="15240">
            <a:solidFill>
              <a:srgbClr val="D7D0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1"/>
          <p:cNvSpPr/>
          <p:nvPr/>
        </p:nvSpPr>
        <p:spPr>
          <a:xfrm>
            <a:off x="11704320" y="64008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latin typeface="Arial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302" y="1883214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K562</a:t>
            </a:r>
          </a:p>
        </p:txBody>
      </p:sp>
      <p:cxnSp>
        <p:nvCxnSpPr>
          <p:cNvPr id="18" name="Connector 17"/>
          <p:cNvCxnSpPr>
            <a:cxnSpLocks/>
          </p:cNvCxnSpPr>
          <p:nvPr/>
        </p:nvCxnSpPr>
        <p:spPr>
          <a:xfrm>
            <a:off x="4359930" y="2137405"/>
            <a:ext cx="9601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cxnSpLocks/>
          </p:cNvCxnSpPr>
          <p:nvPr/>
        </p:nvCxnSpPr>
        <p:spPr>
          <a:xfrm>
            <a:off x="7540284" y="2137405"/>
            <a:ext cx="9601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828799" y="1233527"/>
            <a:ext cx="2831124" cy="1691203"/>
          </a:xfrm>
          <a:prstGeom prst="roundRect">
            <a:avLst/>
          </a:prstGeom>
          <a:solidFill>
            <a:srgbClr val="D6E8FC"/>
          </a:solidFill>
          <a:ln>
            <a:solidFill>
              <a:srgbClr val="97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ru-RU"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Множество активных генов по данным эпигенетики (активный промотор </a:t>
            </a:r>
            <a:r>
              <a:rPr lang="en-US" sz="1600" b="1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ChromHMM</a:t>
            </a:r>
            <a:r>
              <a:rPr lang="en-US"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ru-RU" sz="1600" b="1" dirty="0">
              <a:solidFill>
                <a:srgbClr val="24242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189220" y="1233528"/>
            <a:ext cx="2831124" cy="1691202"/>
          </a:xfrm>
          <a:prstGeom prst="roundRect">
            <a:avLst/>
          </a:prstGeom>
          <a:solidFill>
            <a:srgbClr val="FFEBCD"/>
          </a:solidFill>
          <a:ln>
            <a:solidFill>
              <a:srgbClr val="E0B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φ = 0,72</a:t>
            </a:r>
          </a:p>
          <a:p>
            <a:pPr algn="ctr"/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связь между</a:t>
            </a:r>
          </a:p>
          <a:p>
            <a:pPr algn="ctr"/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множествами активных генов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89619" y="1271868"/>
            <a:ext cx="2831123" cy="1652861"/>
          </a:xfrm>
          <a:prstGeom prst="roundRect">
            <a:avLst/>
          </a:prstGeom>
          <a:solidFill>
            <a:srgbClr val="DCEFE2"/>
          </a:solidFill>
          <a:ln>
            <a:solidFill>
              <a:srgbClr val="92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ru-RU"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Множество активных генов по данным </a:t>
            </a:r>
            <a:r>
              <a:rPr lang="en-US"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экспрессии (</a:t>
            </a:r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RNA-seq</a:t>
            </a:r>
          </a:p>
          <a:p>
            <a:pPr algn="ctr"/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экспрессия TPM &gt; 1</a:t>
            </a:r>
            <a:r>
              <a:rPr lang="ru-RU"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600" b="1" dirty="0">
              <a:solidFill>
                <a:srgbClr val="24242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2302" y="4329311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NHEK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79744" y="4270688"/>
            <a:ext cx="9601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499" y="4311429"/>
            <a:ext cx="9601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828799" y="3692154"/>
            <a:ext cx="2831124" cy="1691204"/>
          </a:xfrm>
          <a:prstGeom prst="roundRect">
            <a:avLst/>
          </a:prstGeom>
          <a:solidFill>
            <a:srgbClr val="D6E8FC"/>
          </a:solidFill>
          <a:ln>
            <a:solidFill>
              <a:srgbClr val="97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ru-RU"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Множество активных генов по данным эпигенетики (активный промотор </a:t>
            </a:r>
            <a:r>
              <a:rPr lang="en-US" sz="1600" b="1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ChromHMM</a:t>
            </a:r>
            <a:r>
              <a:rPr lang="en-US"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ru-RU" sz="1600" b="1" dirty="0">
              <a:solidFill>
                <a:srgbClr val="24242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239864" y="3692154"/>
            <a:ext cx="2780480" cy="1691204"/>
          </a:xfrm>
          <a:prstGeom prst="roundRect">
            <a:avLst/>
          </a:prstGeom>
          <a:solidFill>
            <a:srgbClr val="FFEBCD"/>
          </a:solidFill>
          <a:ln>
            <a:solidFill>
              <a:srgbClr val="E0B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φ = 0,73</a:t>
            </a:r>
          </a:p>
          <a:p>
            <a:pPr algn="ctr"/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связь между</a:t>
            </a:r>
          </a:p>
          <a:p>
            <a:pPr algn="ctr"/>
            <a:r>
              <a:rPr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множествами активных генов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89619" y="3692154"/>
            <a:ext cx="2831123" cy="1691204"/>
          </a:xfrm>
          <a:prstGeom prst="roundRect">
            <a:avLst/>
          </a:prstGeom>
          <a:solidFill>
            <a:srgbClr val="DCEFE2"/>
          </a:solidFill>
          <a:ln>
            <a:solidFill>
              <a:srgbClr val="92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ru-RU"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Множество активных генов по данным  экспрессии (</a:t>
            </a:r>
            <a:r>
              <a:rPr lang="en-GB"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RNA-</a:t>
            </a:r>
            <a:r>
              <a:rPr lang="en-GB" sz="1600" b="1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seq</a:t>
            </a:r>
            <a:endParaRPr lang="en-GB" sz="1600" b="1" dirty="0">
              <a:solidFill>
                <a:srgbClr val="24242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экспрессия </a:t>
            </a:r>
            <a:r>
              <a:rPr lang="en-GB" sz="1600" b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TPM &gt; 1)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0704" y="5637924"/>
            <a:ext cx="10058400" cy="927468"/>
          </a:xfrm>
          <a:prstGeom prst="roundRect">
            <a:avLst/>
          </a:prstGeom>
          <a:solidFill>
            <a:srgbClr val="E0EEFC"/>
          </a:solidFill>
          <a:ln>
            <a:solidFill>
              <a:srgbClr val="97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600" b="1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Корреляция оценивается между двумя множествами генов - активных по ChromHMM и активных по RNA-seq (TPM &gt; 1). Комбинация этих двух критериев повышает надёжность отбора генов-мишеней.</a:t>
            </a: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62743F9D-67C3-72EB-9D81-2EBE8B53BC99}"/>
              </a:ext>
            </a:extLst>
          </p:cNvPr>
          <p:cNvSpPr/>
          <p:nvPr/>
        </p:nvSpPr>
        <p:spPr>
          <a:xfrm>
            <a:off x="530352" y="256032"/>
            <a:ext cx="1773936" cy="73152"/>
          </a:xfrm>
          <a:prstGeom prst="rect">
            <a:avLst/>
          </a:prstGeom>
          <a:solidFill>
            <a:srgbClr val="EAD3C4"/>
          </a:solidFill>
          <a:ln w="12700">
            <a:solidFill>
              <a:srgbClr val="EAD3C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6462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8368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2400" b="1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Метилирование как дополнительный фильтр</a:t>
            </a:r>
          </a:p>
        </p:txBody>
      </p:sp>
      <p:sp>
        <p:nvSpPr>
          <p:cNvPr id="4" name="Shape 2"/>
          <p:cNvSpPr/>
          <p:nvPr/>
        </p:nvSpPr>
        <p:spPr>
          <a:xfrm>
            <a:off x="512064" y="841248"/>
            <a:ext cx="11155680" cy="0"/>
          </a:xfrm>
          <a:prstGeom prst="line">
            <a:avLst/>
          </a:prstGeom>
          <a:noFill/>
          <a:ln w="15240">
            <a:solidFill>
              <a:srgbClr val="D7D0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658368" y="900000"/>
            <a:ext cx="54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b="1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Ключевые</a:t>
            </a:r>
            <a:r>
              <a:rPr b="1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наблюдения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30352" y="1298055"/>
            <a:ext cx="3194625" cy="2847746"/>
          </a:xfrm>
          <a:prstGeom prst="rect">
            <a:avLst/>
          </a:prstGeom>
          <a:noFill/>
          <a:ln/>
        </p:spPr>
        <p:txBody>
          <a:bodyPr wrap="square" lIns="73152" tIns="36576" rIns="73152" bIns="36576" rtlCol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Метилирование ДНК 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дополнительный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эпигенетический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источник информации.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Более вариабельный сигнал,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чем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ChromHMM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RNA-seq.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Дополняет данные о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состоянии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хроматина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экспрессии при отборе мишеней.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Метилирование не заменяет ChromHMM и RNA-seq,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 служит третьим независимым источником.</a:t>
            </a:r>
          </a:p>
        </p:txBody>
      </p:sp>
      <p:sp>
        <p:nvSpPr>
          <p:cNvPr id="11" name="Text 7"/>
          <p:cNvSpPr/>
          <p:nvPr/>
        </p:nvSpPr>
        <p:spPr>
          <a:xfrm>
            <a:off x="11704320" y="64008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latin typeface="Arial"/>
              </a:rPr>
              <a:t>9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F550399-6125-D2FC-CC5B-9D2F015DD8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3991" y="1477195"/>
            <a:ext cx="7304745" cy="3267427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CaptionFig9"/>
          <p:cNvSpPr txBox="1"/>
          <p:nvPr/>
        </p:nvSpPr>
        <p:spPr>
          <a:xfrm>
            <a:off x="4546168" y="4780805"/>
            <a:ext cx="6715823" cy="600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buNone/>
            </a:pPr>
            <a:r>
              <a:rPr lang="ru-RU" sz="1400" b="0" i="1" dirty="0">
                <a:solidFill>
                  <a:srgbClr val="595959"/>
                </a:solidFill>
                <a:cs typeface="Arial"/>
              </a:rPr>
              <a:t>Метилирование в промоторных областях и три источника эпигенетической информации</a:t>
            </a: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9FB4A487-6867-9479-DED4-7F24AE2D5C2C}"/>
              </a:ext>
            </a:extLst>
          </p:cNvPr>
          <p:cNvSpPr/>
          <p:nvPr/>
        </p:nvSpPr>
        <p:spPr>
          <a:xfrm>
            <a:off x="530352" y="256032"/>
            <a:ext cx="1773936" cy="73152"/>
          </a:xfrm>
          <a:prstGeom prst="rect">
            <a:avLst/>
          </a:prstGeom>
          <a:solidFill>
            <a:srgbClr val="EAD3C4"/>
          </a:solidFill>
          <a:ln w="12700">
            <a:solidFill>
              <a:srgbClr val="EAD3C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2238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8368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2400" b="1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Применение алгоритма и получение мишеней</a:t>
            </a:r>
            <a:endParaRPr sz="2400" b="1" dirty="0" err="1">
              <a:solidFill>
                <a:srgbClr val="21212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12064" y="841248"/>
            <a:ext cx="11155680" cy="0"/>
          </a:xfrm>
          <a:prstGeom prst="line">
            <a:avLst/>
          </a:prstGeom>
          <a:noFill/>
          <a:ln w="15240">
            <a:solidFill>
              <a:srgbClr val="D7D0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12064" y="977660"/>
            <a:ext cx="4130274" cy="4728195"/>
          </a:xfrm>
          <a:prstGeom prst="rect">
            <a:avLst/>
          </a:prstGeom>
          <a:noFill/>
          <a:ln/>
        </p:spPr>
        <p:txBody>
          <a:bodyPr wrap="square" lIns="73152" tIns="36576" rIns="73152" bIns="36576" rtlCol="0" anchor="t">
            <a:norm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Алгоритм применяли к трём объектам: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-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плазмида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для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HEK293 -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первичная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проверка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- геном K562 - опухолевая клеточная линия;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- геном NHEK 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нормальная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клеточная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линия.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Для каждой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мишени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оценивается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целевая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активность (on target), специфичность (off target),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эпиген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контекст,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уровень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экспрессии, метилирование,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триплексный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потенциал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В итоге получаем ранжированный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список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мишеней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последующей экспериментальной валидации.</a:t>
            </a:r>
          </a:p>
        </p:txBody>
      </p:sp>
      <p:pic>
        <p:nvPicPr>
          <p:cNvPr id="6" name="Image 0" descr="/mnt/data/thesis_presentation_work/processed/image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173" y="502920"/>
            <a:ext cx="7352827" cy="50822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0" y="64008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latin typeface="Arial"/>
              </a:rPr>
              <a:t>10</a:t>
            </a:r>
          </a:p>
        </p:txBody>
      </p:sp>
      <p:sp>
        <p:nvSpPr>
          <p:cNvPr id="350" name="CaptionFig10"/>
          <p:cNvSpPr txBox="1"/>
          <p:nvPr/>
        </p:nvSpPr>
        <p:spPr>
          <a:xfrm>
            <a:off x="5323586" y="5623002"/>
            <a:ext cx="61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buNone/>
            </a:pPr>
            <a:r>
              <a:rPr lang="ru-RU" sz="1400" b="0" i="1" dirty="0">
                <a:solidFill>
                  <a:srgbClr val="595959"/>
                </a:solidFill>
                <a:cs typeface="Arial"/>
              </a:rPr>
              <a:t>Пример оценки мишени по всем признакам</a:t>
            </a: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C51492A7-6724-4C75-0085-465D22345490}"/>
              </a:ext>
            </a:extLst>
          </p:cNvPr>
          <p:cNvSpPr/>
          <p:nvPr/>
        </p:nvSpPr>
        <p:spPr>
          <a:xfrm>
            <a:off x="530352" y="256032"/>
            <a:ext cx="1773936" cy="73152"/>
          </a:xfrm>
          <a:prstGeom prst="rect">
            <a:avLst/>
          </a:prstGeom>
          <a:solidFill>
            <a:srgbClr val="EAD3C4"/>
          </a:solidFill>
          <a:ln w="12700">
            <a:solidFill>
              <a:srgbClr val="EAD3C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1203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256032"/>
            <a:ext cx="1261872" cy="73152"/>
          </a:xfrm>
          <a:prstGeom prst="rect">
            <a:avLst/>
          </a:prstGeom>
          <a:solidFill>
            <a:srgbClr val="D7E2C3"/>
          </a:solidFill>
          <a:ln w="12700">
            <a:solidFill>
              <a:srgbClr val="D7E2C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sz="2400" b="1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Выводы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12064" y="841248"/>
            <a:ext cx="11155680" cy="0"/>
          </a:xfrm>
          <a:prstGeom prst="line">
            <a:avLst/>
          </a:prstGeom>
          <a:noFill/>
          <a:ln w="15240">
            <a:solidFill>
              <a:srgbClr val="D7D0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1704320" y="64008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latin typeface="Arial"/>
              </a:rPr>
              <a:t>11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461595C-85E5-7F9B-8C50-B444BA07C6E0}"/>
              </a:ext>
            </a:extLst>
          </p:cNvPr>
          <p:cNvSpPr/>
          <p:nvPr/>
        </p:nvSpPr>
        <p:spPr>
          <a:xfrm>
            <a:off x="658368" y="1100001"/>
            <a:ext cx="11055360" cy="3434672"/>
          </a:xfrm>
          <a:prstGeom prst="rect">
            <a:avLst/>
          </a:prstGeom>
          <a:noFill/>
          <a:ln/>
        </p:spPr>
        <p:txBody>
          <a:bodyPr wrap="square" lIns="73152" tIns="36576" rIns="73152" bIns="36576" rtlCol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1600"/>
              </a:spcAft>
            </a:pPr>
            <a:r>
              <a:rPr lang="ru-RU" sz="22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На основе данных о состояниях хроматина и уровнях экспрессии для линий K562 и NHEK получены наборы потенциальных генов-мишеней, согласующиеся с литературными данными.</a:t>
            </a:r>
          </a:p>
          <a:p>
            <a:pPr algn="l">
              <a:lnSpc>
                <a:spcPct val="106000"/>
              </a:lnSpc>
              <a:spcAft>
                <a:spcPts val="1600"/>
              </a:spcAft>
            </a:pPr>
            <a:r>
              <a:rPr lang="ru-RU" sz="22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При формировании наборов генов-мишеней показано, что состояние промотора лучше согласуется с уровнем экспрессии, чем оценка по телу гена.</a:t>
            </a:r>
          </a:p>
          <a:p>
            <a:pPr algn="l">
              <a:lnSpc>
                <a:spcPct val="106000"/>
              </a:lnSpc>
              <a:spcAft>
                <a:spcPts val="1600"/>
              </a:spcAft>
            </a:pPr>
            <a:r>
              <a:rPr lang="ru-RU" sz="22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Разработанный алгоритм позволяет отбирать высокоспецифичные мишени CRISPR/Cas с учётом целевой активности, специфичности и потенциала образования триплексов вида РНК-ДНК-ДНК.</a:t>
            </a: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9556788C-7C8A-39A4-E11F-9B9EA9BC7965}"/>
              </a:ext>
            </a:extLst>
          </p:cNvPr>
          <p:cNvSpPr/>
          <p:nvPr/>
        </p:nvSpPr>
        <p:spPr>
          <a:xfrm>
            <a:off x="530352" y="256032"/>
            <a:ext cx="1773936" cy="73152"/>
          </a:xfrm>
          <a:prstGeom prst="rect">
            <a:avLst/>
          </a:prstGeom>
          <a:solidFill>
            <a:srgbClr val="EAD3C4"/>
          </a:solidFill>
          <a:ln w="12700">
            <a:solidFill>
              <a:srgbClr val="EAD3C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8189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704320" y="6400800"/>
            <a:ext cx="3200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latin typeface="Arial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88920"/>
            <a:ext cx="932688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buNone/>
            </a:pPr>
            <a:r>
              <a:rPr sz="4000" b="1" dirty="0" err="1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Спасибо</a:t>
            </a:r>
            <a:r>
              <a:rPr sz="4000" b="1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b="1" dirty="0" err="1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</a:t>
            </a:r>
            <a:r>
              <a:rPr sz="4000" b="1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b="1" dirty="0" err="1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внимание</a:t>
            </a:r>
            <a:r>
              <a:rPr sz="4000" b="1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79577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347472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Резерв. </a:t>
            </a:r>
            <a:r>
              <a:rPr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Проверка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ChromHMM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профили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состояний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активные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гены</a:t>
            </a:r>
            <a:endParaRPr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338560" cy="18288"/>
          </a:xfrm>
          <a:prstGeom prst="rect">
            <a:avLst/>
          </a:prstGeom>
          <a:solidFill>
            <a:srgbClr val="D8C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383" y="1089061"/>
            <a:ext cx="3203513" cy="2509418"/>
          </a:xfrm>
          <a:prstGeom prst="rect">
            <a:avLst/>
          </a:prstGeom>
        </p:spPr>
      </p:pic>
      <p:pic>
        <p:nvPicPr>
          <p:cNvPr id="6" name="Picture 5" descr="image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4139" y="1116234"/>
            <a:ext cx="3203512" cy="2509418"/>
          </a:xfrm>
          <a:prstGeom prst="rect">
            <a:avLst/>
          </a:prstGeom>
        </p:spPr>
      </p:pic>
      <p:pic>
        <p:nvPicPr>
          <p:cNvPr id="7" name="Picture 6" descr="image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9871" y="3657025"/>
            <a:ext cx="3203513" cy="28717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91640" y="84124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222222"/>
                </a:solidFill>
                <a:latin typeface="Arial"/>
              </a:rPr>
              <a:t>K562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1904" y="832019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222222"/>
                </a:solidFill>
                <a:latin typeface="Arial"/>
              </a:rPr>
              <a:t>NHEK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02152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 err="1">
                <a:solidFill>
                  <a:srgbClr val="666666"/>
                </a:solidFill>
              </a:rPr>
              <a:t>Распределение</a:t>
            </a:r>
            <a:r>
              <a:rPr sz="1400" b="0" i="1" dirty="0">
                <a:solidFill>
                  <a:srgbClr val="666666"/>
                </a:solidFill>
              </a:rPr>
              <a:t> </a:t>
            </a:r>
            <a:r>
              <a:rPr sz="1400" b="0" i="1" dirty="0" err="1">
                <a:solidFill>
                  <a:srgbClr val="666666"/>
                </a:solidFill>
              </a:rPr>
              <a:t>промоторов</a:t>
            </a:r>
            <a:r>
              <a:rPr sz="1400" b="0" i="1" dirty="0">
                <a:solidFill>
                  <a:srgbClr val="666666"/>
                </a:solidFill>
              </a:rPr>
              <a:t> </a:t>
            </a:r>
            <a:r>
              <a:rPr sz="1400" b="0" i="1" dirty="0" err="1">
                <a:solidFill>
                  <a:srgbClr val="666666"/>
                </a:solidFill>
              </a:rPr>
              <a:t>по</a:t>
            </a:r>
            <a:r>
              <a:rPr sz="1400" b="0" i="1" dirty="0">
                <a:solidFill>
                  <a:srgbClr val="666666"/>
                </a:solidFill>
              </a:rPr>
              <a:t> </a:t>
            </a:r>
            <a:r>
              <a:rPr sz="1400" b="0" i="1" dirty="0" err="1">
                <a:solidFill>
                  <a:srgbClr val="666666"/>
                </a:solidFill>
              </a:rPr>
              <a:t>состояниям</a:t>
            </a:r>
            <a:r>
              <a:rPr sz="1400" b="0" i="1" dirty="0">
                <a:solidFill>
                  <a:srgbClr val="666666"/>
                </a:solidFill>
              </a:rPr>
              <a:t> </a:t>
            </a:r>
            <a:r>
              <a:rPr sz="1400" b="0" i="1" dirty="0" err="1">
                <a:solidFill>
                  <a:srgbClr val="666666"/>
                </a:solidFill>
              </a:rPr>
              <a:t>ChromHMM</a:t>
            </a:r>
            <a:endParaRPr sz="1400" b="0" i="1" dirty="0">
              <a:solidFill>
                <a:srgbClr val="666666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99132" y="6341516"/>
            <a:ext cx="2971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 err="1">
                <a:solidFill>
                  <a:srgbClr val="666666"/>
                </a:solidFill>
              </a:rPr>
              <a:t>Пересечение</a:t>
            </a:r>
            <a:r>
              <a:rPr sz="1400" b="0" i="1" dirty="0">
                <a:solidFill>
                  <a:srgbClr val="666666"/>
                </a:solidFill>
              </a:rPr>
              <a:t> </a:t>
            </a:r>
            <a:r>
              <a:rPr sz="1400" b="0" i="1" dirty="0" err="1">
                <a:solidFill>
                  <a:srgbClr val="666666"/>
                </a:solidFill>
              </a:rPr>
              <a:t>активных</a:t>
            </a:r>
            <a:r>
              <a:rPr sz="1400" b="0" i="1" dirty="0">
                <a:solidFill>
                  <a:srgbClr val="666666"/>
                </a:solidFill>
              </a:rPr>
              <a:t> </a:t>
            </a:r>
            <a:r>
              <a:rPr sz="1400" b="0" i="1" dirty="0" err="1">
                <a:solidFill>
                  <a:srgbClr val="666666"/>
                </a:solidFill>
              </a:rPr>
              <a:t>генов</a:t>
            </a:r>
            <a:r>
              <a:rPr sz="1400" b="0" i="1" dirty="0">
                <a:solidFill>
                  <a:srgbClr val="666666"/>
                </a:solidFill>
              </a:rPr>
              <a:t> K562, NHEK и housekeeping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5566" y="1069848"/>
            <a:ext cx="4335088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Гистограммы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показывают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распределение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промоторов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по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классам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ChromHMM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(Active, Weak, Inactive/Poised)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K562 и NHEK.</a:t>
            </a: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Профили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заметно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различаются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по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доле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Inactive/Poised,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что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отражает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эпигенетическую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специфику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клеточных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линий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Более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высокая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доля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Inactive/Poised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указывает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промоторы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готовом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состоянии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которые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могут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активироваться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при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изменении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контекста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Диаграмма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Венна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показывает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общее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ядро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активных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генов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клеточно-специфические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кандидаты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после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исключения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housekeeping-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генов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именно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они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становятся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наиболее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интересными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мишенями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95760" y="640080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Arial"/>
              </a:rPr>
              <a:t>13</a:t>
            </a:r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CD4D743E-D346-919D-921F-79F6E9EAD894}"/>
              </a:ext>
            </a:extLst>
          </p:cNvPr>
          <p:cNvSpPr/>
          <p:nvPr/>
        </p:nvSpPr>
        <p:spPr>
          <a:xfrm>
            <a:off x="530352" y="256032"/>
            <a:ext cx="1773936" cy="73152"/>
          </a:xfrm>
          <a:prstGeom prst="rect">
            <a:avLst/>
          </a:prstGeom>
          <a:solidFill>
            <a:srgbClr val="EAD3C4"/>
          </a:solidFill>
          <a:ln w="12700">
            <a:solidFill>
              <a:srgbClr val="EAD3C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7081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347472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Резерв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Дополнительные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параметры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 K562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338560" cy="18288"/>
          </a:xfrm>
          <a:prstGeom prst="rect">
            <a:avLst/>
          </a:prstGeom>
          <a:solidFill>
            <a:srgbClr val="D8C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47" y="922425"/>
            <a:ext cx="11811735" cy="50898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093470"/>
            <a:ext cx="11201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Пример</a:t>
            </a:r>
            <a:r>
              <a:rPr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14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расширенной</a:t>
            </a:r>
            <a:r>
              <a:rPr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14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таблицы</a:t>
            </a:r>
            <a:r>
              <a:rPr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14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кандидатов</a:t>
            </a:r>
            <a:r>
              <a:rPr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RNA-seq, housekeeping, strand, </a:t>
            </a:r>
            <a:r>
              <a:rPr sz="14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целевой</a:t>
            </a:r>
            <a:r>
              <a:rPr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14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активности</a:t>
            </a:r>
            <a:r>
              <a:rPr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и </a:t>
            </a:r>
            <a:r>
              <a:rPr sz="14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специфичности</a:t>
            </a:r>
            <a:r>
              <a:rPr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и </a:t>
            </a:r>
            <a:r>
              <a:rPr sz="14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итоговая</a:t>
            </a:r>
            <a:r>
              <a:rPr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14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оценка</a:t>
            </a:r>
            <a:endParaRPr sz="14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31168" y="635508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Arial"/>
              </a:rPr>
              <a:t>14</a:t>
            </a: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76208543-E462-73B8-919A-4E7BCBA25657}"/>
              </a:ext>
            </a:extLst>
          </p:cNvPr>
          <p:cNvSpPr/>
          <p:nvPr/>
        </p:nvSpPr>
        <p:spPr>
          <a:xfrm>
            <a:off x="530352" y="256032"/>
            <a:ext cx="1773936" cy="73152"/>
          </a:xfrm>
          <a:prstGeom prst="rect">
            <a:avLst/>
          </a:prstGeom>
          <a:solidFill>
            <a:srgbClr val="EAD3C4"/>
          </a:solidFill>
          <a:ln w="12700">
            <a:solidFill>
              <a:srgbClr val="EAD3C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2160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347472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 err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Резерв</a:t>
            </a:r>
            <a:r>
              <a:rPr sz="2400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sz="2400" b="1" dirty="0" err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Как</a:t>
            </a:r>
            <a:r>
              <a:rPr sz="2400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 err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оценивался</a:t>
            </a:r>
            <a:r>
              <a:rPr sz="2400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 err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триплекс-потенциал</a:t>
            </a:r>
            <a:endParaRPr sz="2400" b="1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338560" cy="18288"/>
          </a:xfrm>
          <a:prstGeom prst="rect">
            <a:avLst/>
          </a:prstGeom>
          <a:solidFill>
            <a:srgbClr val="D8C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572000" cy="4415497"/>
          </a:xfrm>
          <a:prstGeom prst="rect">
            <a:avLst/>
          </a:prstGeom>
          <a:noFill/>
        </p:spPr>
        <p:txBody>
          <a:bodyPr wrap="square" lIns="73152" tIns="36576" rIns="73152" bIns="36576">
            <a:no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каждой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Cas-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мишени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извлекались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соседние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окна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фиксированной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длины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обеих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цепях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ДНК.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Окна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оценивали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содержанию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пиримидинов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C/T и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характеру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их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кластеризации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Наличие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C/T в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позициях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1-4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считалось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неблагоприятным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признаком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C/T в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позициях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5-9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давали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больший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вклад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оценку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чем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позициях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10-19.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Длина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непрерывных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участков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C/T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дополнительно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влияла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оценку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качества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выходе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формировалась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таблица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окон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последовательностью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флагом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bad и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триплексной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оценкой</a:t>
            </a:r>
            <a:r>
              <a:rPr sz="16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60828" y="5355805"/>
            <a:ext cx="4800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 err="1">
                <a:solidFill>
                  <a:srgbClr val="666666"/>
                </a:solidFill>
              </a:rPr>
              <a:t>Схемы</a:t>
            </a:r>
            <a:r>
              <a:rPr sz="1400" b="0" i="1" dirty="0">
                <a:solidFill>
                  <a:srgbClr val="666666"/>
                </a:solidFill>
              </a:rPr>
              <a:t> </a:t>
            </a:r>
            <a:r>
              <a:rPr sz="1400" b="0" i="1" dirty="0" err="1">
                <a:solidFill>
                  <a:srgbClr val="666666"/>
                </a:solidFill>
              </a:rPr>
              <a:t>антипараллельной</a:t>
            </a:r>
            <a:r>
              <a:rPr sz="1400" b="0" i="1" dirty="0">
                <a:solidFill>
                  <a:srgbClr val="666666"/>
                </a:solidFill>
              </a:rPr>
              <a:t> и </a:t>
            </a:r>
            <a:r>
              <a:rPr sz="1400" b="0" i="1" dirty="0" err="1">
                <a:solidFill>
                  <a:srgbClr val="666666"/>
                </a:solidFill>
              </a:rPr>
              <a:t>параллельной</a:t>
            </a:r>
            <a:r>
              <a:rPr sz="1400" b="0" i="1" dirty="0">
                <a:solidFill>
                  <a:srgbClr val="666666"/>
                </a:solidFill>
              </a:rPr>
              <a:t> </a:t>
            </a:r>
            <a:r>
              <a:rPr sz="1400" b="0" i="1" dirty="0" err="1">
                <a:solidFill>
                  <a:srgbClr val="666666"/>
                </a:solidFill>
              </a:rPr>
              <a:t>триплексной</a:t>
            </a:r>
            <a:r>
              <a:rPr sz="1400" b="0" i="1" dirty="0">
                <a:solidFill>
                  <a:srgbClr val="666666"/>
                </a:solidFill>
              </a:rPr>
              <a:t> </a:t>
            </a:r>
            <a:r>
              <a:rPr sz="1400" b="0" i="1" dirty="0" err="1">
                <a:solidFill>
                  <a:srgbClr val="666666"/>
                </a:solidFill>
              </a:rPr>
              <a:t>конструкции</a:t>
            </a:r>
            <a:endParaRPr sz="1400" b="0" i="1" dirty="0">
              <a:solidFill>
                <a:srgbClr val="666666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631168" y="635508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Arial"/>
              </a:rPr>
              <a:t>15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30821D2-9087-9658-046E-CACC1F9FE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776" y="1240585"/>
            <a:ext cx="5798704" cy="4187952"/>
          </a:xfrm>
          <a:prstGeom prst="rect">
            <a:avLst/>
          </a:prstGeom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0C990729-BC67-1FC1-280E-1DEAB3AF13BA}"/>
              </a:ext>
            </a:extLst>
          </p:cNvPr>
          <p:cNvSpPr/>
          <p:nvPr/>
        </p:nvSpPr>
        <p:spPr>
          <a:xfrm>
            <a:off x="530352" y="256032"/>
            <a:ext cx="1773936" cy="73152"/>
          </a:xfrm>
          <a:prstGeom prst="rect">
            <a:avLst/>
          </a:prstGeom>
          <a:solidFill>
            <a:srgbClr val="EAD3C4"/>
          </a:solidFill>
          <a:ln w="12700">
            <a:solidFill>
              <a:srgbClr val="EAD3C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3904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347472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Резерв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Визуализации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проверки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ChromHMM</a:t>
            </a:r>
            <a:endParaRPr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338560" cy="18288"/>
          </a:xfrm>
          <a:prstGeom prst="rect">
            <a:avLst/>
          </a:prstGeom>
          <a:solidFill>
            <a:srgbClr val="D8C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202" y="5041676"/>
            <a:ext cx="2926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 err="1">
                <a:solidFill>
                  <a:srgbClr val="666666"/>
                </a:solidFill>
              </a:rPr>
              <a:t>Покрытие</a:t>
            </a:r>
            <a:r>
              <a:rPr sz="1400" b="0" i="1" dirty="0">
                <a:solidFill>
                  <a:srgbClr val="666666"/>
                </a:solidFill>
              </a:rPr>
              <a:t> </a:t>
            </a:r>
            <a:r>
              <a:rPr sz="1400" b="0" i="1" dirty="0" err="1">
                <a:solidFill>
                  <a:srgbClr val="666666"/>
                </a:solidFill>
              </a:rPr>
              <a:t>промоторов</a:t>
            </a:r>
            <a:endParaRPr sz="1400" b="0" i="1" dirty="0">
              <a:solidFill>
                <a:srgbClr val="666666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82365" y="5036316"/>
            <a:ext cx="2926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 err="1">
                <a:solidFill>
                  <a:srgbClr val="666666"/>
                </a:solidFill>
              </a:rPr>
              <a:t>Покрытие</a:t>
            </a:r>
            <a:r>
              <a:rPr sz="1400" b="0" i="1" dirty="0">
                <a:solidFill>
                  <a:srgbClr val="666666"/>
                </a:solidFill>
              </a:rPr>
              <a:t> </a:t>
            </a:r>
            <a:r>
              <a:rPr sz="1400" b="0" i="1" dirty="0" err="1">
                <a:solidFill>
                  <a:srgbClr val="666666"/>
                </a:solidFill>
              </a:rPr>
              <a:t>тел</a:t>
            </a:r>
            <a:r>
              <a:rPr sz="1400" b="0" i="1" dirty="0">
                <a:solidFill>
                  <a:srgbClr val="666666"/>
                </a:solidFill>
              </a:rPr>
              <a:t> </a:t>
            </a:r>
            <a:r>
              <a:rPr sz="1400" b="0" i="1" dirty="0" err="1">
                <a:solidFill>
                  <a:srgbClr val="666666"/>
                </a:solidFill>
              </a:rPr>
              <a:t>генов</a:t>
            </a:r>
            <a:endParaRPr sz="1400" b="0" i="1" dirty="0">
              <a:solidFill>
                <a:srgbClr val="666666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28888" y="5041676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solidFill>
                  <a:srgbClr val="666666"/>
                </a:solidFill>
              </a:rPr>
              <a:t>Boxplot </a:t>
            </a:r>
            <a:r>
              <a:rPr sz="1400" b="0" i="1" dirty="0" err="1">
                <a:solidFill>
                  <a:srgbClr val="666666"/>
                </a:solidFill>
              </a:rPr>
              <a:t>по</a:t>
            </a:r>
            <a:r>
              <a:rPr sz="1400" b="0" i="1" dirty="0">
                <a:solidFill>
                  <a:srgbClr val="666666"/>
                </a:solidFill>
              </a:rPr>
              <a:t> </a:t>
            </a:r>
            <a:r>
              <a:rPr sz="1400" b="0" i="1" dirty="0" err="1">
                <a:solidFill>
                  <a:srgbClr val="666666"/>
                </a:solidFill>
              </a:rPr>
              <a:t>телам</a:t>
            </a:r>
            <a:r>
              <a:rPr sz="1400" b="0" i="1" dirty="0">
                <a:solidFill>
                  <a:srgbClr val="666666"/>
                </a:solidFill>
              </a:rPr>
              <a:t> </a:t>
            </a:r>
            <a:r>
              <a:rPr sz="1400" b="0" i="1" dirty="0" err="1">
                <a:solidFill>
                  <a:srgbClr val="666666"/>
                </a:solidFill>
              </a:rPr>
              <a:t>генов</a:t>
            </a:r>
            <a:endParaRPr sz="1400" b="0" i="1" dirty="0">
              <a:solidFill>
                <a:srgbClr val="66666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631168" y="635508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Arial"/>
              </a:rPr>
              <a:t>16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1E8167C-892D-70C5-F88A-F59DA34FC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32" y="1672031"/>
            <a:ext cx="3322521" cy="332252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191249C-F342-CF66-5473-963D7CAA8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805" y="1822854"/>
            <a:ext cx="4146046" cy="310953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D2B4727-5B58-CF6A-6B26-95279A6611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8445" y="2193239"/>
            <a:ext cx="4925643" cy="2764737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D2C82B82-7674-147B-AFBC-372CF594D179}"/>
              </a:ext>
            </a:extLst>
          </p:cNvPr>
          <p:cNvSpPr/>
          <p:nvPr/>
        </p:nvSpPr>
        <p:spPr>
          <a:xfrm>
            <a:off x="530352" y="256032"/>
            <a:ext cx="1773936" cy="73152"/>
          </a:xfrm>
          <a:prstGeom prst="rect">
            <a:avLst/>
          </a:prstGeom>
          <a:solidFill>
            <a:srgbClr val="EAD3C4"/>
          </a:solidFill>
          <a:ln w="12700">
            <a:solidFill>
              <a:srgbClr val="EAD3C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79627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347472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 err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Резерв</a:t>
            </a:r>
            <a:r>
              <a:rPr sz="2400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sz="2400" b="1" dirty="0" err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Ограничения</a:t>
            </a:r>
            <a:r>
              <a:rPr sz="2400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 err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метода</a:t>
            </a:r>
            <a:r>
              <a:rPr sz="2400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sz="2400" b="1" dirty="0" err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дальнейшие</a:t>
            </a:r>
            <a:r>
              <a:rPr sz="2400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 err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шаги</a:t>
            </a:r>
            <a:endParaRPr sz="2400" b="1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338560" cy="18288"/>
          </a:xfrm>
          <a:prstGeom prst="rect">
            <a:avLst/>
          </a:prstGeom>
          <a:solidFill>
            <a:srgbClr val="D8C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42416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Перевод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состояний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ChromHMM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упрощенную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схему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Active / Repressed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облегчает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сравнение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источников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но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не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отражает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всю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непрерывность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регуляторных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состояний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Порог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TPM &gt; 1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выбран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как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практический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критерий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активности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при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необходимости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может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быть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изменен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Триплекс-скрининг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работе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используется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как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предварительный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фильтр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требует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дальнейшей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экспериментальной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проверки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тоговая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оценка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является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простой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агрегацией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целев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ой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активност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специфичност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при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другой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постановке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задачи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веса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компонентов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можно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менять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Следующий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шаг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экспериментальная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валидация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наиболее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приоритетных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мишеней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настройка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алгоритма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под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конкретные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типы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Cas-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белков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клеточные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модели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31168" y="635508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Arial"/>
              </a:rPr>
              <a:t>17</a:t>
            </a: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77AEC0D3-1CBE-A5F6-CA48-4EC01D0590E7}"/>
              </a:ext>
            </a:extLst>
          </p:cNvPr>
          <p:cNvSpPr/>
          <p:nvPr/>
        </p:nvSpPr>
        <p:spPr>
          <a:xfrm>
            <a:off x="530352" y="256032"/>
            <a:ext cx="1773936" cy="73152"/>
          </a:xfrm>
          <a:prstGeom prst="rect">
            <a:avLst/>
          </a:prstGeom>
          <a:solidFill>
            <a:srgbClr val="EAD3C4"/>
          </a:solidFill>
          <a:ln w="12700">
            <a:solidFill>
              <a:srgbClr val="EAD3C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0708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EEC2C54-3223-6B4C-9AFB-3C9ECF33D776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7e8ed3f8-0a8a-4ec0-80c8-dbe010382a1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2968</TotalTime>
  <Words>2649</Words>
  <Application>Microsoft Macintosh PowerPoint</Application>
  <PresentationFormat>Widescreen</PresentationFormat>
  <Paragraphs>207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Отбор и ранжирование мишеней CRISPR/Cas на основе мультиомных данных</dc:title>
  <dc:subject>Презентация к защите ВКР</dc:subject>
  <dc:creator>OpenAI</dc:creator>
  <cp:lastModifiedBy>Азамат Узденов</cp:lastModifiedBy>
  <cp:revision>44</cp:revision>
  <dcterms:created xsi:type="dcterms:W3CDTF">2026-04-07T03:52:07Z</dcterms:created>
  <dcterms:modified xsi:type="dcterms:W3CDTF">2026-05-29T03:38:10Z</dcterms:modified>
</cp:coreProperties>
</file>